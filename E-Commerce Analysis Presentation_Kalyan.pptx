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21"/>
  </p:notesMasterIdLst>
  <p:sldIdLst>
    <p:sldId id="256" r:id="rId2"/>
    <p:sldId id="259" r:id="rId3"/>
    <p:sldId id="260" r:id="rId4"/>
    <p:sldId id="261" r:id="rId5"/>
    <p:sldId id="257" r:id="rId6"/>
    <p:sldId id="258" r:id="rId7"/>
    <p:sldId id="262" r:id="rId8"/>
    <p:sldId id="263" r:id="rId9"/>
    <p:sldId id="264" r:id="rId10"/>
    <p:sldId id="265" r:id="rId11"/>
    <p:sldId id="266" r:id="rId12"/>
    <p:sldId id="267" r:id="rId13"/>
    <p:sldId id="271" r:id="rId14"/>
    <p:sldId id="272" r:id="rId15"/>
    <p:sldId id="273" r:id="rId16"/>
    <p:sldId id="274" r:id="rId17"/>
    <p:sldId id="268" r:id="rId18"/>
    <p:sldId id="270" r:id="rId19"/>
    <p:sldId id="26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1957B0-ED03-468A-8D17-F9F51B05F742}" type="datetimeFigureOut">
              <a:rPr lang="en-IN" smtClean="0"/>
              <a:t>22-06-2026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281B31-DD82-48B8-BBC9-8F3F7B7C4E32}" type="slidenum">
              <a:rPr lang="en-IN" smtClean="0"/>
              <a:t>‹#›</a:t>
            </a:fld>
            <a:endParaRPr lang="en-IN"/>
          </a:p>
        </p:txBody>
      </p:sp>
    </p:spTree>
    <p:extLst>
      <p:ext uri="{BB962C8B-B14F-4D97-AF65-F5344CB8AC3E}">
        <p14:creationId xmlns:p14="http://schemas.microsoft.com/office/powerpoint/2010/main" val="480604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10642B7-806F-425D-90FE-EC786A818053}"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E8B2A-0AD0-4FEA-AF7F-2CF92892F85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220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10642B7-806F-425D-90FE-EC786A818053}"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E8B2A-0AD0-4FEA-AF7F-2CF92892F853}" type="slidenum">
              <a:rPr lang="en-IN" smtClean="0"/>
              <a:t>‹#›</a:t>
            </a:fld>
            <a:endParaRPr lang="en-IN"/>
          </a:p>
        </p:txBody>
      </p:sp>
    </p:spTree>
    <p:extLst>
      <p:ext uri="{BB962C8B-B14F-4D97-AF65-F5344CB8AC3E}">
        <p14:creationId xmlns:p14="http://schemas.microsoft.com/office/powerpoint/2010/main" val="3989964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10642B7-806F-425D-90FE-EC786A818053}"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E8B2A-0AD0-4FEA-AF7F-2CF92892F85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3880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10642B7-806F-425D-90FE-EC786A818053}"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EE8B2A-0AD0-4FEA-AF7F-2CF92892F853}" type="slidenum">
              <a:rPr lang="en-IN" smtClean="0"/>
              <a:t>‹#›</a:t>
            </a:fld>
            <a:endParaRPr lang="en-IN"/>
          </a:p>
        </p:txBody>
      </p:sp>
    </p:spTree>
    <p:extLst>
      <p:ext uri="{BB962C8B-B14F-4D97-AF65-F5344CB8AC3E}">
        <p14:creationId xmlns:p14="http://schemas.microsoft.com/office/powerpoint/2010/main" val="2794797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10642B7-806F-425D-90FE-EC786A818053}" type="datetimeFigureOut">
              <a:rPr lang="en-IN" smtClean="0"/>
              <a:t>22-06-2026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EE8B2A-0AD0-4FEA-AF7F-2CF92892F853}" type="slidenum">
              <a:rPr lang="en-IN" smtClean="0"/>
              <a:t>‹#›</a:t>
            </a:fld>
            <a:endParaRPr lang="en-IN"/>
          </a:p>
        </p:txBody>
      </p:sp>
    </p:spTree>
    <p:extLst>
      <p:ext uri="{BB962C8B-B14F-4D97-AF65-F5344CB8AC3E}">
        <p14:creationId xmlns:p14="http://schemas.microsoft.com/office/powerpoint/2010/main" val="3976206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10642B7-806F-425D-90FE-EC786A818053}" type="datetimeFigureOut">
              <a:rPr lang="en-IN" smtClean="0"/>
              <a:t>22-06-2026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EE8B2A-0AD0-4FEA-AF7F-2CF92892F853}" type="slidenum">
              <a:rPr lang="en-IN" smtClean="0"/>
              <a:t>‹#›</a:t>
            </a:fld>
            <a:endParaRPr lang="en-IN"/>
          </a:p>
        </p:txBody>
      </p:sp>
    </p:spTree>
    <p:extLst>
      <p:ext uri="{BB962C8B-B14F-4D97-AF65-F5344CB8AC3E}">
        <p14:creationId xmlns:p14="http://schemas.microsoft.com/office/powerpoint/2010/main" val="2119788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0642B7-806F-425D-90FE-EC786A818053}" type="datetimeFigureOut">
              <a:rPr lang="en-IN" smtClean="0"/>
              <a:t>22-06-2026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77EE8B2A-0AD0-4FEA-AF7F-2CF92892F853}" type="slidenum">
              <a:rPr lang="en-IN" smtClean="0"/>
              <a:t>‹#›</a:t>
            </a:fld>
            <a:endParaRPr lang="en-IN"/>
          </a:p>
        </p:txBody>
      </p:sp>
    </p:spTree>
    <p:extLst>
      <p:ext uri="{BB962C8B-B14F-4D97-AF65-F5344CB8AC3E}">
        <p14:creationId xmlns:p14="http://schemas.microsoft.com/office/powerpoint/2010/main" val="1335439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0642B7-806F-425D-90FE-EC786A818053}" type="datetimeFigureOut">
              <a:rPr lang="en-IN" smtClean="0"/>
              <a:t>22-06-2026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7EE8B2A-0AD0-4FEA-AF7F-2CF92892F853}" type="slidenum">
              <a:rPr lang="en-IN" smtClean="0"/>
              <a:t>‹#›</a:t>
            </a:fld>
            <a:endParaRPr lang="en-IN"/>
          </a:p>
        </p:txBody>
      </p:sp>
    </p:spTree>
    <p:extLst>
      <p:ext uri="{BB962C8B-B14F-4D97-AF65-F5344CB8AC3E}">
        <p14:creationId xmlns:p14="http://schemas.microsoft.com/office/powerpoint/2010/main" val="3500207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10642B7-806F-425D-90FE-EC786A818053}"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EE8B2A-0AD0-4FEA-AF7F-2CF92892F853}" type="slidenum">
              <a:rPr lang="en-IN" smtClean="0"/>
              <a:t>‹#›</a:t>
            </a:fld>
            <a:endParaRPr lang="en-IN"/>
          </a:p>
        </p:txBody>
      </p:sp>
    </p:spTree>
    <p:extLst>
      <p:ext uri="{BB962C8B-B14F-4D97-AF65-F5344CB8AC3E}">
        <p14:creationId xmlns:p14="http://schemas.microsoft.com/office/powerpoint/2010/main" val="219062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10642B7-806F-425D-90FE-EC786A818053}"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E8B2A-0AD0-4FEA-AF7F-2CF92892F853}" type="slidenum">
              <a:rPr lang="en-IN" smtClean="0"/>
              <a:t>‹#›</a:t>
            </a:fld>
            <a:endParaRPr lang="en-IN"/>
          </a:p>
        </p:txBody>
      </p:sp>
    </p:spTree>
    <p:extLst>
      <p:ext uri="{BB962C8B-B14F-4D97-AF65-F5344CB8AC3E}">
        <p14:creationId xmlns:p14="http://schemas.microsoft.com/office/powerpoint/2010/main" val="87774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10642B7-806F-425D-90FE-EC786A818053}"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E8B2A-0AD0-4FEA-AF7F-2CF92892F853}" type="slidenum">
              <a:rPr lang="en-IN" smtClean="0"/>
              <a:t>‹#›</a:t>
            </a:fld>
            <a:endParaRPr lang="en-IN"/>
          </a:p>
        </p:txBody>
      </p:sp>
    </p:spTree>
    <p:extLst>
      <p:ext uri="{BB962C8B-B14F-4D97-AF65-F5344CB8AC3E}">
        <p14:creationId xmlns:p14="http://schemas.microsoft.com/office/powerpoint/2010/main" val="1399499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0642B7-806F-425D-90FE-EC786A818053}" type="datetimeFigureOut">
              <a:rPr lang="en-IN" smtClean="0"/>
              <a:t>22-06-2026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7EE8B2A-0AD0-4FEA-AF7F-2CF92892F85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372491"/>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ired.it/internet/web/2014/05/22/amazon-lancia-il-negozio-di-abbigliamento/"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techboomers.com/t/what-is-amazon"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F329243-3106-2B84-F19B-0FC5BC5FDA7B}"/>
              </a:ext>
            </a:extLst>
          </p:cNvPr>
          <p:cNvSpPr>
            <a:spLocks noGrp="1"/>
          </p:cNvSpPr>
          <p:nvPr>
            <p:ph type="subTitle" idx="1"/>
          </p:nvPr>
        </p:nvSpPr>
        <p:spPr>
          <a:xfrm>
            <a:off x="1219200" y="4530293"/>
            <a:ext cx="9448800" cy="1655762"/>
          </a:xfrm>
        </p:spPr>
        <p:txBody>
          <a:bodyPr>
            <a:normAutofit/>
          </a:bodyPr>
          <a:lstStyle/>
          <a:p>
            <a:pPr algn="l">
              <a:lnSpc>
                <a:spcPct val="100000"/>
              </a:lnSpc>
            </a:pPr>
            <a:r>
              <a:rPr lang="en-US" sz="1800" b="1" cap="none" dirty="0">
                <a:solidFill>
                  <a:schemeClr val="tx1"/>
                </a:solidFill>
                <a:latin typeface="Arial" panose="020B0604020202020204" pitchFamily="34" charset="0"/>
                <a:cs typeface="Arial" panose="020B0604020202020204" pitchFamily="34" charset="0"/>
              </a:rPr>
              <a:t>Kalyan Bandaru</a:t>
            </a:r>
            <a:br>
              <a:rPr lang="en-US" sz="1800" b="1" dirty="0">
                <a:solidFill>
                  <a:schemeClr val="tx1"/>
                </a:solidFill>
                <a:latin typeface="Arial" panose="020B0604020202020204" pitchFamily="34" charset="0"/>
                <a:cs typeface="Arial" panose="020B0604020202020204" pitchFamily="34" charset="0"/>
              </a:rPr>
            </a:br>
            <a:r>
              <a:rPr lang="en-US" sz="1800" b="1" dirty="0">
                <a:solidFill>
                  <a:schemeClr val="tx1"/>
                </a:solidFill>
                <a:latin typeface="Arial" panose="020B0604020202020204" pitchFamily="34" charset="0"/>
                <a:cs typeface="Arial" panose="020B0604020202020204" pitchFamily="34" charset="0"/>
              </a:rPr>
              <a:t>31/05/2026</a:t>
            </a:r>
            <a:endParaRPr lang="en-IN" sz="1800" b="1" dirty="0">
              <a:solidFill>
                <a:schemeClr val="tx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A26B523-FC79-578C-9C73-C17197B047C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84615" y="461080"/>
            <a:ext cx="7689271" cy="2337538"/>
          </a:xfrm>
          <a:prstGeom prst="rect">
            <a:avLst/>
          </a:prstGeom>
        </p:spPr>
      </p:pic>
      <p:sp>
        <p:nvSpPr>
          <p:cNvPr id="7" name="TextBox 6">
            <a:extLst>
              <a:ext uri="{FF2B5EF4-FFF2-40B4-BE49-F238E27FC236}">
                <a16:creationId xmlns:a16="http://schemas.microsoft.com/office/drawing/2014/main" id="{FC3218DC-5D3F-D466-D28C-9E01AFA3CDAE}"/>
              </a:ext>
            </a:extLst>
          </p:cNvPr>
          <p:cNvSpPr txBox="1"/>
          <p:nvPr/>
        </p:nvSpPr>
        <p:spPr>
          <a:xfrm>
            <a:off x="1066800" y="3134630"/>
            <a:ext cx="10058400" cy="707886"/>
          </a:xfrm>
          <a:prstGeom prst="rect">
            <a:avLst/>
          </a:prstGeom>
          <a:noFill/>
        </p:spPr>
        <p:txBody>
          <a:bodyPr wrap="square" rtlCol="0">
            <a:spAutoFit/>
          </a:bodyPr>
          <a:lstStyle/>
          <a:p>
            <a:r>
              <a:rPr lang="en-US" sz="4000" b="1" dirty="0">
                <a:effectLst>
                  <a:outerShdw blurRad="38100" dist="38100" dir="2700000" algn="tl">
                    <a:srgbClr val="000000">
                      <a:alpha val="43137"/>
                    </a:srgbClr>
                  </a:outerShdw>
                </a:effectLst>
              </a:rPr>
              <a:t>E-Commerce Business Analysis Using Power BI</a:t>
            </a:r>
            <a:endParaRPr lang="en-IN"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33215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D95B2-1B91-4A7E-2D4B-10D1AC6D3AD4}"/>
              </a:ext>
            </a:extLst>
          </p:cNvPr>
          <p:cNvSpPr>
            <a:spLocks noGrp="1"/>
          </p:cNvSpPr>
          <p:nvPr>
            <p:ph type="title"/>
          </p:nvPr>
        </p:nvSpPr>
        <p:spPr>
          <a:xfrm>
            <a:off x="1066800" y="438880"/>
            <a:ext cx="10058400" cy="1100051"/>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Problem statement of the Project</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6D8D823-44DE-7B9C-2A03-EA50E1501694}"/>
              </a:ext>
            </a:extLst>
          </p:cNvPr>
          <p:cNvSpPr>
            <a:spLocks noGrp="1"/>
          </p:cNvSpPr>
          <p:nvPr>
            <p:ph idx="1"/>
          </p:nvPr>
        </p:nvSpPr>
        <p:spPr>
          <a:xfrm>
            <a:off x="1097280" y="1845734"/>
            <a:ext cx="6910647" cy="4023360"/>
          </a:xfrm>
        </p:spPr>
        <p:txBody>
          <a:bodyPr anchor="ctr">
            <a:normAutofit/>
          </a:bodyPr>
          <a:lstStyle/>
          <a:p>
            <a:r>
              <a:rPr lang="en-US" sz="1800" b="1" i="0" u="none" strike="noStrike" dirty="0">
                <a:solidFill>
                  <a:srgbClr val="000000"/>
                </a:solidFill>
                <a:effectLst/>
                <a:latin typeface="Arial" panose="020B0604020202020204" pitchFamily="34" charset="0"/>
                <a:cs typeface="Arial" panose="020B0604020202020204" pitchFamily="34" charset="0"/>
              </a:rPr>
              <a:t>Amazon, a company currently performing well in E-commerce sector. The stakeholders wish to maintain this level of performance and seek improvement. For this purpose, they want to devise new strategies. You are part of a team exploring new ways to benefit customers, such as offering more discounts and Prime membership perks. Could you suggest additional methods to identify and reward customers and enhance their shopping experience.</a:t>
            </a:r>
            <a:endParaRPr lang="en-IN" sz="18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9F80194-B8F6-D3E0-9B30-CE8FC170BEE3}"/>
              </a:ext>
            </a:extLst>
          </p:cNvPr>
          <p:cNvPicPr>
            <a:picLocks noChangeAspect="1"/>
          </p:cNvPicPr>
          <p:nvPr/>
        </p:nvPicPr>
        <p:blipFill>
          <a:blip r:embed="rId2"/>
          <a:stretch>
            <a:fillRect/>
          </a:stretch>
        </p:blipFill>
        <p:spPr>
          <a:xfrm>
            <a:off x="8132618" y="1845734"/>
            <a:ext cx="2962102" cy="4236411"/>
          </a:xfrm>
          <a:prstGeom prst="rect">
            <a:avLst/>
          </a:prstGeom>
        </p:spPr>
      </p:pic>
    </p:spTree>
    <p:extLst>
      <p:ext uri="{BB962C8B-B14F-4D97-AF65-F5344CB8AC3E}">
        <p14:creationId xmlns:p14="http://schemas.microsoft.com/office/powerpoint/2010/main" val="377303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4C04C-621A-0356-6AB6-CF494F18201D}"/>
              </a:ext>
            </a:extLst>
          </p:cNvPr>
          <p:cNvSpPr>
            <a:spLocks noGrp="1"/>
          </p:cNvSpPr>
          <p:nvPr>
            <p:ph type="title"/>
          </p:nvPr>
        </p:nvSpPr>
        <p:spPr>
          <a:xfrm>
            <a:off x="1066800" y="452735"/>
            <a:ext cx="10058400" cy="1072342"/>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Dataset Overview</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5ACB221-0B50-43C8-509A-B30BBB84EA52}"/>
              </a:ext>
            </a:extLst>
          </p:cNvPr>
          <p:cNvSpPr>
            <a:spLocks noGrp="1"/>
          </p:cNvSpPr>
          <p:nvPr>
            <p:ph idx="1"/>
          </p:nvPr>
        </p:nvSpPr>
        <p:spPr>
          <a:xfrm>
            <a:off x="1097279" y="2022764"/>
            <a:ext cx="10058399" cy="4197926"/>
          </a:xfrm>
        </p:spPr>
        <p:txBody>
          <a:bodyPr>
            <a:normAutofit/>
          </a:bodyPr>
          <a:lstStyle/>
          <a:p>
            <a:pPr fontAlgn="base">
              <a:spcAft>
                <a:spcPts val="0"/>
              </a:spcAft>
            </a:pPr>
            <a:r>
              <a:rPr lang="en-US" sz="1600" b="1" i="0" u="none" strike="noStrike" dirty="0" err="1">
                <a:solidFill>
                  <a:srgbClr val="000000"/>
                </a:solidFill>
                <a:effectLst/>
                <a:latin typeface="Arial" panose="020B0604020202020204" pitchFamily="34" charset="0"/>
                <a:cs typeface="Arial" panose="020B0604020202020204" pitchFamily="34" charset="0"/>
              </a:rPr>
              <a:t>OrderDate</a:t>
            </a:r>
            <a:r>
              <a:rPr lang="en-US" sz="1600" b="1" i="0" u="none" strike="noStrike" dirty="0">
                <a:solidFill>
                  <a:srgbClr val="000000"/>
                </a:solidFill>
                <a:effectLst/>
                <a:latin typeface="Arial" panose="020B0604020202020204" pitchFamily="34" charset="0"/>
                <a:cs typeface="Arial" panose="020B0604020202020204" pitchFamily="34" charset="0"/>
              </a:rPr>
              <a:t>:</a:t>
            </a:r>
            <a:r>
              <a:rPr lang="en-US" sz="1600" b="0" i="0" u="none" strike="noStrike" dirty="0">
                <a:solidFill>
                  <a:srgbClr val="000000"/>
                </a:solidFill>
                <a:effectLst/>
                <a:latin typeface="Arial" panose="020B0604020202020204" pitchFamily="34" charset="0"/>
                <a:cs typeface="Arial" panose="020B0604020202020204" pitchFamily="34" charset="0"/>
              </a:rPr>
              <a:t> The date when the order was placed.</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err="1">
                <a:solidFill>
                  <a:srgbClr val="000000"/>
                </a:solidFill>
                <a:effectLst/>
                <a:latin typeface="Arial" panose="020B0604020202020204" pitchFamily="34" charset="0"/>
                <a:cs typeface="Arial" panose="020B0604020202020204" pitchFamily="34" charset="0"/>
              </a:rPr>
              <a:t>OrderID</a:t>
            </a:r>
            <a:r>
              <a:rPr lang="en-US" sz="1600" b="1" i="0" u="none" strike="noStrike" dirty="0">
                <a:solidFill>
                  <a:srgbClr val="000000"/>
                </a:solidFill>
                <a:effectLst/>
                <a:latin typeface="Arial" panose="020B0604020202020204" pitchFamily="34" charset="0"/>
                <a:cs typeface="Arial" panose="020B0604020202020204" pitchFamily="34" charset="0"/>
              </a:rPr>
              <a:t>:</a:t>
            </a:r>
            <a:r>
              <a:rPr lang="en-US" sz="1600" b="0" i="0" u="none" strike="noStrike" dirty="0">
                <a:solidFill>
                  <a:srgbClr val="000000"/>
                </a:solidFill>
                <a:effectLst/>
                <a:latin typeface="Arial" panose="020B0604020202020204" pitchFamily="34" charset="0"/>
                <a:cs typeface="Arial" panose="020B0604020202020204" pitchFamily="34" charset="0"/>
              </a:rPr>
              <a:t> A unique identifier for each order.</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Delivery Date:</a:t>
            </a:r>
            <a:r>
              <a:rPr lang="en-US" sz="1600" b="0" i="0" u="none" strike="noStrike" dirty="0">
                <a:solidFill>
                  <a:srgbClr val="000000"/>
                </a:solidFill>
                <a:effectLst/>
                <a:latin typeface="Arial" panose="020B0604020202020204" pitchFamily="34" charset="0"/>
                <a:cs typeface="Arial" panose="020B0604020202020204" pitchFamily="34" charset="0"/>
              </a:rPr>
              <a:t> The date when the order is scheduled to be delivered.</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err="1">
                <a:solidFill>
                  <a:srgbClr val="000000"/>
                </a:solidFill>
                <a:effectLst/>
                <a:latin typeface="Arial" panose="020B0604020202020204" pitchFamily="34" charset="0"/>
                <a:cs typeface="Arial" panose="020B0604020202020204" pitchFamily="34" charset="0"/>
              </a:rPr>
              <a:t>CustomerID</a:t>
            </a:r>
            <a:r>
              <a:rPr lang="en-US" sz="1600" b="1" i="0" u="none" strike="noStrike" dirty="0">
                <a:solidFill>
                  <a:srgbClr val="000000"/>
                </a:solidFill>
                <a:effectLst/>
                <a:latin typeface="Arial" panose="020B0604020202020204" pitchFamily="34" charset="0"/>
                <a:cs typeface="Arial" panose="020B0604020202020204" pitchFamily="34" charset="0"/>
              </a:rPr>
              <a:t>: </a:t>
            </a:r>
            <a:r>
              <a:rPr lang="en-US" sz="1600" b="0" i="0" u="none" strike="noStrike" dirty="0">
                <a:solidFill>
                  <a:srgbClr val="000000"/>
                </a:solidFill>
                <a:effectLst/>
                <a:latin typeface="Arial" panose="020B0604020202020204" pitchFamily="34" charset="0"/>
                <a:cs typeface="Arial" panose="020B0604020202020204" pitchFamily="34" charset="0"/>
              </a:rPr>
              <a:t>A unique identifier for each customer.</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Customer Age:</a:t>
            </a:r>
            <a:r>
              <a:rPr lang="en-US" sz="1600" b="0" i="0" u="none" strike="noStrike" dirty="0">
                <a:solidFill>
                  <a:srgbClr val="000000"/>
                </a:solidFill>
                <a:effectLst/>
                <a:latin typeface="Arial" panose="020B0604020202020204" pitchFamily="34" charset="0"/>
                <a:cs typeface="Arial" panose="020B0604020202020204" pitchFamily="34" charset="0"/>
              </a:rPr>
              <a:t> The age of the customer.</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Customer Gender:</a:t>
            </a:r>
            <a:r>
              <a:rPr lang="en-US" sz="1600" b="0" i="0" u="none" strike="noStrike" dirty="0">
                <a:solidFill>
                  <a:srgbClr val="000000"/>
                </a:solidFill>
                <a:effectLst/>
                <a:latin typeface="Arial" panose="020B0604020202020204" pitchFamily="34" charset="0"/>
                <a:cs typeface="Arial" panose="020B0604020202020204" pitchFamily="34" charset="0"/>
              </a:rPr>
              <a:t> The gender of the customer (M for male, F for female).</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Location:</a:t>
            </a:r>
            <a:r>
              <a:rPr lang="en-US" sz="1600" b="0" i="0" u="none" strike="noStrike" dirty="0">
                <a:solidFill>
                  <a:srgbClr val="000000"/>
                </a:solidFill>
                <a:effectLst/>
                <a:latin typeface="Arial" panose="020B0604020202020204" pitchFamily="34" charset="0"/>
                <a:cs typeface="Arial" panose="020B0604020202020204" pitchFamily="34" charset="0"/>
              </a:rPr>
              <a:t> The geographical area where the customer is located.</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Zone: </a:t>
            </a:r>
            <a:r>
              <a:rPr lang="en-US" sz="1600" b="0" i="0" u="none" strike="noStrike" dirty="0">
                <a:solidFill>
                  <a:srgbClr val="000000"/>
                </a:solidFill>
                <a:effectLst/>
                <a:latin typeface="Arial" panose="020B0604020202020204" pitchFamily="34" charset="0"/>
                <a:cs typeface="Arial" panose="020B0604020202020204" pitchFamily="34" charset="0"/>
              </a:rPr>
              <a:t>Specific zone within the location for delivery purposes.</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Delivery Type:</a:t>
            </a:r>
            <a:r>
              <a:rPr lang="en-US" sz="1600" b="0" i="0" u="none" strike="noStrike" dirty="0">
                <a:solidFill>
                  <a:srgbClr val="000000"/>
                </a:solidFill>
                <a:effectLst/>
                <a:latin typeface="Arial" panose="020B0604020202020204" pitchFamily="34" charset="0"/>
                <a:cs typeface="Arial" panose="020B0604020202020204" pitchFamily="34" charset="0"/>
              </a:rPr>
              <a:t> The method by which the order is delivered (e.g., Express, Standard).</a:t>
            </a:r>
            <a:endParaRPr lang="en-US" sz="1600" b="1" i="0" u="none" strike="noStrike" dirty="0">
              <a:solidFill>
                <a:srgbClr val="000000"/>
              </a:solidFill>
              <a:effectLst/>
              <a:latin typeface="Arial" panose="020B0604020202020204" pitchFamily="34" charset="0"/>
              <a:cs typeface="Arial" panose="020B0604020202020204" pitchFamily="34" charset="0"/>
            </a:endParaRPr>
          </a:p>
          <a:p>
            <a:r>
              <a:rPr lang="en-US" sz="1600" b="1" i="0" u="none" strike="noStrike" dirty="0">
                <a:solidFill>
                  <a:srgbClr val="000000"/>
                </a:solidFill>
                <a:effectLst/>
                <a:latin typeface="Arial" panose="020B0604020202020204" pitchFamily="34" charset="0"/>
                <a:cs typeface="Arial" panose="020B0604020202020204" pitchFamily="34" charset="0"/>
              </a:rPr>
              <a:t>Product Category:</a:t>
            </a:r>
            <a:r>
              <a:rPr lang="en-US" sz="1600" b="0" i="0" u="none" strike="noStrike" dirty="0">
                <a:solidFill>
                  <a:srgbClr val="000000"/>
                </a:solidFill>
                <a:effectLst/>
                <a:latin typeface="Arial" panose="020B0604020202020204" pitchFamily="34" charset="0"/>
                <a:cs typeface="Arial" panose="020B0604020202020204" pitchFamily="34" charset="0"/>
              </a:rPr>
              <a:t> The broad category to which the product belong</a:t>
            </a:r>
          </a:p>
          <a:p>
            <a:r>
              <a:rPr lang="en-US" sz="1700" dirty="0">
                <a:solidFill>
                  <a:srgbClr val="00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61501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F4336-9D7A-E072-5994-384618979231}"/>
              </a:ext>
            </a:extLst>
          </p:cNvPr>
          <p:cNvSpPr>
            <a:spLocks noGrp="1"/>
          </p:cNvSpPr>
          <p:nvPr>
            <p:ph type="title"/>
          </p:nvPr>
        </p:nvSpPr>
        <p:spPr>
          <a:xfrm>
            <a:off x="1097280" y="542790"/>
            <a:ext cx="10058400" cy="892233"/>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Dataset Overview</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DBA5C4F-DC4B-548F-496C-CA7AE6A8619D}"/>
              </a:ext>
            </a:extLst>
          </p:cNvPr>
          <p:cNvSpPr>
            <a:spLocks noGrp="1"/>
          </p:cNvSpPr>
          <p:nvPr>
            <p:ph idx="1"/>
          </p:nvPr>
        </p:nvSpPr>
        <p:spPr>
          <a:xfrm>
            <a:off x="1097280" y="2050472"/>
            <a:ext cx="10058400" cy="3818621"/>
          </a:xfrm>
        </p:spPr>
        <p:txBody>
          <a:bodyPr>
            <a:normAutofit/>
          </a:bodyPr>
          <a:lstStyle/>
          <a:p>
            <a:pPr fontAlgn="base">
              <a:spcAft>
                <a:spcPts val="0"/>
              </a:spcAft>
            </a:pPr>
            <a:r>
              <a:rPr lang="en-US" sz="1600" b="1" i="0" u="none" strike="noStrike" dirty="0" err="1">
                <a:solidFill>
                  <a:srgbClr val="000000"/>
                </a:solidFill>
                <a:effectLst/>
                <a:latin typeface="Arial" panose="020B0604020202020204" pitchFamily="34" charset="0"/>
                <a:cs typeface="Arial" panose="020B0604020202020204" pitchFamily="34" charset="0"/>
              </a:rPr>
              <a:t>SubCategory</a:t>
            </a:r>
            <a:r>
              <a:rPr lang="en-US" sz="1600" b="1" i="0" u="none" strike="noStrike" dirty="0">
                <a:solidFill>
                  <a:srgbClr val="000000"/>
                </a:solidFill>
                <a:effectLst/>
                <a:latin typeface="Arial" panose="020B0604020202020204" pitchFamily="34" charset="0"/>
                <a:cs typeface="Arial" panose="020B0604020202020204" pitchFamily="34" charset="0"/>
              </a:rPr>
              <a:t>:</a:t>
            </a:r>
            <a:r>
              <a:rPr lang="en-US" sz="1600" b="0" i="0" u="none" strike="noStrike" dirty="0">
                <a:solidFill>
                  <a:srgbClr val="000000"/>
                </a:solidFill>
                <a:effectLst/>
                <a:latin typeface="Arial" panose="020B0604020202020204" pitchFamily="34" charset="0"/>
                <a:cs typeface="Arial" panose="020B0604020202020204" pitchFamily="34" charset="0"/>
              </a:rPr>
              <a:t> A more specific classification within the product category.</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Product:</a:t>
            </a:r>
            <a:r>
              <a:rPr lang="en-US" sz="1600" b="0" i="0" u="none" strike="noStrike" dirty="0">
                <a:solidFill>
                  <a:srgbClr val="000000"/>
                </a:solidFill>
                <a:effectLst/>
                <a:latin typeface="Arial" panose="020B0604020202020204" pitchFamily="34" charset="0"/>
                <a:cs typeface="Arial" panose="020B0604020202020204" pitchFamily="34" charset="0"/>
              </a:rPr>
              <a:t> The name or description of the product ordered.</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Unit Price:</a:t>
            </a:r>
            <a:r>
              <a:rPr lang="en-US" sz="1600" b="0" i="0" u="none" strike="noStrike" dirty="0">
                <a:solidFill>
                  <a:srgbClr val="000000"/>
                </a:solidFill>
                <a:effectLst/>
                <a:latin typeface="Arial" panose="020B0604020202020204" pitchFamily="34" charset="0"/>
                <a:cs typeface="Arial" panose="020B0604020202020204" pitchFamily="34" charset="0"/>
              </a:rPr>
              <a:t> The price per unit of the product.</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Shipping Fee:</a:t>
            </a:r>
            <a:r>
              <a:rPr lang="en-US" sz="1600" b="0" i="0" u="none" strike="noStrike" dirty="0">
                <a:solidFill>
                  <a:srgbClr val="000000"/>
                </a:solidFill>
                <a:effectLst/>
                <a:latin typeface="Arial" panose="020B0604020202020204" pitchFamily="34" charset="0"/>
                <a:cs typeface="Arial" panose="020B0604020202020204" pitchFamily="34" charset="0"/>
              </a:rPr>
              <a:t> The fee charged for shipping the product.</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Order Quantity:</a:t>
            </a:r>
            <a:r>
              <a:rPr lang="en-US" sz="1600" b="0" i="0" u="none" strike="noStrike" dirty="0">
                <a:solidFill>
                  <a:srgbClr val="000000"/>
                </a:solidFill>
                <a:effectLst/>
                <a:latin typeface="Arial" panose="020B0604020202020204" pitchFamily="34" charset="0"/>
                <a:cs typeface="Arial" panose="020B0604020202020204" pitchFamily="34" charset="0"/>
              </a:rPr>
              <a:t> The quantity of the product ordered.</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Sale Price:</a:t>
            </a:r>
            <a:r>
              <a:rPr lang="en-US" sz="1600" b="0" i="0" u="none" strike="noStrike" dirty="0">
                <a:solidFill>
                  <a:srgbClr val="000000"/>
                </a:solidFill>
                <a:effectLst/>
                <a:latin typeface="Arial" panose="020B0604020202020204" pitchFamily="34" charset="0"/>
                <a:cs typeface="Arial" panose="020B0604020202020204" pitchFamily="34" charset="0"/>
              </a:rPr>
              <a:t> The total sale price of the order.</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Status:</a:t>
            </a:r>
            <a:r>
              <a:rPr lang="en-US" sz="1600" b="0" i="0" u="none" strike="noStrike" dirty="0">
                <a:solidFill>
                  <a:srgbClr val="000000"/>
                </a:solidFill>
                <a:effectLst/>
                <a:latin typeface="Arial" panose="020B0604020202020204" pitchFamily="34" charset="0"/>
                <a:cs typeface="Arial" panose="020B0604020202020204" pitchFamily="34" charset="0"/>
              </a:rPr>
              <a:t> Current status of the order (e.g., Delivered, Returned).</a:t>
            </a:r>
            <a:endParaRPr lang="en-US" sz="1600" b="1" i="0" u="none" strike="noStrike" dirty="0">
              <a:solidFill>
                <a:srgbClr val="000000"/>
              </a:solidFill>
              <a:effectLst/>
              <a:latin typeface="Arial" panose="020B0604020202020204" pitchFamily="34" charset="0"/>
              <a:cs typeface="Arial" panose="020B0604020202020204" pitchFamily="34" charset="0"/>
            </a:endParaRPr>
          </a:p>
          <a:p>
            <a:pPr fontAlgn="base">
              <a:spcAft>
                <a:spcPts val="0"/>
              </a:spcAft>
            </a:pPr>
            <a:r>
              <a:rPr lang="en-US" sz="1600" b="1" i="0" u="none" strike="noStrike" dirty="0">
                <a:solidFill>
                  <a:srgbClr val="000000"/>
                </a:solidFill>
                <a:effectLst/>
                <a:latin typeface="Arial" panose="020B0604020202020204" pitchFamily="34" charset="0"/>
                <a:cs typeface="Arial" panose="020B0604020202020204" pitchFamily="34" charset="0"/>
              </a:rPr>
              <a:t>Reason: </a:t>
            </a:r>
            <a:r>
              <a:rPr lang="en-US" sz="1600" b="0" i="0" u="none" strike="noStrike" dirty="0">
                <a:solidFill>
                  <a:srgbClr val="000000"/>
                </a:solidFill>
                <a:effectLst/>
                <a:latin typeface="Arial" panose="020B0604020202020204" pitchFamily="34" charset="0"/>
                <a:cs typeface="Arial" panose="020B0604020202020204" pitchFamily="34" charset="0"/>
              </a:rPr>
              <a:t>The reason for the return or an empty field if delivered.</a:t>
            </a:r>
            <a:endParaRPr lang="en-US" sz="1600" b="1" i="0" u="none" strike="noStrike" dirty="0">
              <a:solidFill>
                <a:srgbClr val="000000"/>
              </a:solidFill>
              <a:effectLst/>
              <a:latin typeface="Arial" panose="020B0604020202020204" pitchFamily="34" charset="0"/>
              <a:cs typeface="Arial" panose="020B0604020202020204" pitchFamily="34" charset="0"/>
            </a:endParaRPr>
          </a:p>
          <a:p>
            <a:r>
              <a:rPr lang="en-US" sz="1600" b="1" i="0" u="none" strike="noStrike" dirty="0">
                <a:solidFill>
                  <a:srgbClr val="000000"/>
                </a:solidFill>
                <a:effectLst/>
                <a:latin typeface="Arial" panose="020B0604020202020204" pitchFamily="34" charset="0"/>
                <a:cs typeface="Arial" panose="020B0604020202020204" pitchFamily="34" charset="0"/>
              </a:rPr>
              <a:t>Rating:</a:t>
            </a:r>
            <a:r>
              <a:rPr lang="en-US" sz="1600" b="0" i="0" u="none" strike="noStrike" dirty="0">
                <a:solidFill>
                  <a:srgbClr val="000000"/>
                </a:solidFill>
                <a:effectLst/>
                <a:latin typeface="Arial" panose="020B0604020202020204" pitchFamily="34" charset="0"/>
                <a:cs typeface="Arial" panose="020B0604020202020204" pitchFamily="34" charset="0"/>
              </a:rPr>
              <a:t> Customer rating for the order on a scale (e.g., 1 to 5).</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1283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EB4BD-F99F-955D-3DC7-C6FE81D9DCA5}"/>
              </a:ext>
            </a:extLst>
          </p:cNvPr>
          <p:cNvSpPr>
            <a:spLocks noGrp="1"/>
          </p:cNvSpPr>
          <p:nvPr>
            <p:ph type="title"/>
          </p:nvPr>
        </p:nvSpPr>
        <p:spPr>
          <a:xfrm>
            <a:off x="1825336" y="365365"/>
            <a:ext cx="8541327" cy="714054"/>
          </a:xfrm>
        </p:spPr>
        <p:txBody>
          <a:bodyPr>
            <a:normAutofit fontScale="90000"/>
          </a:bodyPr>
          <a:lstStyle/>
          <a:p>
            <a:pPr algn="ctr"/>
            <a:r>
              <a:rPr lang="en-US" sz="4000" b="1" dirty="0">
                <a:solidFill>
                  <a:schemeClr val="accent2">
                    <a:lumMod val="75000"/>
                  </a:schemeClr>
                </a:solidFill>
                <a:latin typeface="Arial" panose="020B0604020202020204" pitchFamily="34" charset="0"/>
                <a:cs typeface="Arial" panose="020B0604020202020204" pitchFamily="34" charset="0"/>
              </a:rPr>
              <a:t>About Amazon E-Commerce Service</a:t>
            </a:r>
            <a:endParaRPr lang="en-IN" sz="4000" b="1" dirty="0">
              <a:solidFill>
                <a:schemeClr val="accent2">
                  <a:lumMod val="75000"/>
                </a:schemeClr>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0E47BA8B-2979-F1D2-DE86-161AF8A3568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04453" y="1396551"/>
            <a:ext cx="10183091" cy="2524285"/>
          </a:xfrm>
          <a:prstGeom prst="rect">
            <a:avLst/>
          </a:prstGeom>
          <a:ln>
            <a:solidFill>
              <a:schemeClr val="tx1"/>
            </a:solidFill>
          </a:ln>
        </p:spPr>
      </p:pic>
      <p:sp>
        <p:nvSpPr>
          <p:cNvPr id="17" name="TextBox 16">
            <a:extLst>
              <a:ext uri="{FF2B5EF4-FFF2-40B4-BE49-F238E27FC236}">
                <a16:creationId xmlns:a16="http://schemas.microsoft.com/office/drawing/2014/main" id="{C57C3551-6DAD-EE5E-460C-04ACD38D4B22}"/>
              </a:ext>
            </a:extLst>
          </p:cNvPr>
          <p:cNvSpPr txBox="1"/>
          <p:nvPr/>
        </p:nvSpPr>
        <p:spPr>
          <a:xfrm>
            <a:off x="1139535" y="4237968"/>
            <a:ext cx="9912926" cy="1569660"/>
          </a:xfrm>
          <a:prstGeom prst="rect">
            <a:avLst/>
          </a:prstGeom>
          <a:noFill/>
        </p:spPr>
        <p:txBody>
          <a:bodyPr wrap="square" rtlCol="0">
            <a:spAutoFit/>
          </a:bodyPr>
          <a:lstStyle/>
          <a:p>
            <a:pPr marL="285750" indent="-285750">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Amazon e-commerce is a customer-focused online marketplace built around three core strengths: wide product selection, competitive pricing, and shopping convenience. </a:t>
            </a:r>
          </a:p>
          <a:p>
            <a:endParaRPr lang="en-US" sz="1600" b="1" i="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Amazon Store says these principles have remained central to making Amazon a go-to destination for customers, with hundreds of millions of products across more than 35 categories and extensive Prime delivery benefits.</a:t>
            </a:r>
            <a:endParaRPr lang="en-IN" sz="1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3846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FFB967-69D9-09F9-F6D0-95F507A12605}"/>
              </a:ext>
            </a:extLst>
          </p:cNvPr>
          <p:cNvPicPr>
            <a:picLocks noChangeAspect="1"/>
          </p:cNvPicPr>
          <p:nvPr/>
        </p:nvPicPr>
        <p:blipFill>
          <a:blip r:embed="rId2"/>
          <a:srcRect b="6181"/>
          <a:stretch/>
        </p:blipFill>
        <p:spPr>
          <a:xfrm>
            <a:off x="6303818" y="1884217"/>
            <a:ext cx="4981142" cy="4170219"/>
          </a:xfrm>
          <a:prstGeom prst="rect">
            <a:avLst/>
          </a:prstGeom>
        </p:spPr>
      </p:pic>
      <p:sp>
        <p:nvSpPr>
          <p:cNvPr id="5" name="TextBox 4">
            <a:extLst>
              <a:ext uri="{FF2B5EF4-FFF2-40B4-BE49-F238E27FC236}">
                <a16:creationId xmlns:a16="http://schemas.microsoft.com/office/drawing/2014/main" id="{E59CC679-B786-DD53-CFEE-723E7839DB3A}"/>
              </a:ext>
            </a:extLst>
          </p:cNvPr>
          <p:cNvSpPr txBox="1"/>
          <p:nvPr/>
        </p:nvSpPr>
        <p:spPr>
          <a:xfrm>
            <a:off x="1198418" y="406615"/>
            <a:ext cx="9795163" cy="1200329"/>
          </a:xfrm>
          <a:prstGeom prst="rect">
            <a:avLst/>
          </a:prstGeom>
          <a:noFill/>
        </p:spPr>
        <p:txBody>
          <a:bodyPr wrap="square" rtlCol="0">
            <a:spAutoFit/>
          </a:bodyPr>
          <a:lstStyle/>
          <a:p>
            <a:pPr algn="ctr"/>
            <a:r>
              <a:rPr lang="en-US" sz="3600" b="1" dirty="0">
                <a:solidFill>
                  <a:schemeClr val="accent2">
                    <a:lumMod val="75000"/>
                  </a:schemeClr>
                </a:solidFill>
                <a:latin typeface="Arial" panose="020B0604020202020204" pitchFamily="34" charset="0"/>
                <a:cs typeface="Arial" panose="020B0604020202020204" pitchFamily="34" charset="0"/>
              </a:rPr>
              <a:t>How Amazon E-Commerce </a:t>
            </a:r>
          </a:p>
          <a:p>
            <a:pPr algn="ctr"/>
            <a:r>
              <a:rPr lang="en-US" sz="3600" b="1" dirty="0">
                <a:solidFill>
                  <a:schemeClr val="accent2">
                    <a:lumMod val="75000"/>
                  </a:schemeClr>
                </a:solidFill>
                <a:latin typeface="Arial" panose="020B0604020202020204" pitchFamily="34" charset="0"/>
                <a:cs typeface="Arial" panose="020B0604020202020204" pitchFamily="34" charset="0"/>
              </a:rPr>
              <a:t>Manages Orders</a:t>
            </a:r>
          </a:p>
        </p:txBody>
      </p:sp>
      <p:sp>
        <p:nvSpPr>
          <p:cNvPr id="6" name="TextBox 5">
            <a:extLst>
              <a:ext uri="{FF2B5EF4-FFF2-40B4-BE49-F238E27FC236}">
                <a16:creationId xmlns:a16="http://schemas.microsoft.com/office/drawing/2014/main" id="{AFB50D32-6148-AF38-89D2-CD90A5BB8B31}"/>
              </a:ext>
            </a:extLst>
          </p:cNvPr>
          <p:cNvSpPr txBox="1"/>
          <p:nvPr/>
        </p:nvSpPr>
        <p:spPr>
          <a:xfrm>
            <a:off x="1198418" y="1953389"/>
            <a:ext cx="4689765" cy="4031873"/>
          </a:xfrm>
          <a:prstGeom prst="rect">
            <a:avLst/>
          </a:prstGeom>
          <a:noFill/>
        </p:spPr>
        <p:txBody>
          <a:bodyPr wrap="square" rtlCol="0">
            <a:spAutoFit/>
          </a:bodyPr>
          <a:lstStyle/>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Order received</a:t>
            </a:r>
            <a:r>
              <a:rPr lang="en-US" sz="1600" b="0" i="0" dirty="0">
                <a:effectLst/>
                <a:latin typeface="Arial" panose="020B0604020202020204" pitchFamily="34" charset="0"/>
                <a:cs typeface="Arial" panose="020B0604020202020204" pitchFamily="34" charset="0"/>
              </a:rPr>
              <a:t> – Amazon confirms the order and payment in its system.</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Pick and pack</a:t>
            </a:r>
            <a:r>
              <a:rPr lang="en-US" sz="1600" b="0" i="0" dirty="0">
                <a:effectLst/>
                <a:latin typeface="Arial" panose="020B0604020202020204" pitchFamily="34" charset="0"/>
                <a:cs typeface="Arial" panose="020B0604020202020204" pitchFamily="34" charset="0"/>
              </a:rPr>
              <a:t> – Items are picked from the warehouse and packed for shipping.</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Sort and ship</a:t>
            </a:r>
            <a:r>
              <a:rPr lang="en-US" sz="1600" b="0" i="0" dirty="0">
                <a:effectLst/>
                <a:latin typeface="Arial" panose="020B0604020202020204" pitchFamily="34" charset="0"/>
                <a:cs typeface="Arial" panose="020B0604020202020204" pitchFamily="34" charset="0"/>
              </a:rPr>
              <a:t> – Packages are sorted by destination and sent to delivery stations.</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Deliver to customer</a:t>
            </a:r>
            <a:r>
              <a:rPr lang="en-US" sz="1600" b="0" i="0" dirty="0">
                <a:effectLst/>
                <a:latin typeface="Arial" panose="020B0604020202020204" pitchFamily="34" charset="0"/>
                <a:cs typeface="Arial" panose="020B0604020202020204" pitchFamily="34" charset="0"/>
              </a:rPr>
              <a:t> – Orders are routed for last-mile delivery to the doorstep or pickup point.</a:t>
            </a:r>
          </a:p>
          <a:p>
            <a:pPr marL="285750" indent="-285750" algn="l">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Returns and refunds</a:t>
            </a:r>
            <a:r>
              <a:rPr lang="en-US" sz="1600" b="0" i="0" dirty="0">
                <a:effectLst/>
                <a:latin typeface="Arial" panose="020B0604020202020204" pitchFamily="34" charset="0"/>
                <a:cs typeface="Arial" panose="020B0604020202020204" pitchFamily="34" charset="0"/>
              </a:rPr>
              <a:t> – Amazon manages product returns and processes eligible refunds after the return is received or verified</a:t>
            </a:r>
            <a:r>
              <a:rPr lang="en-IN" sz="1600" b="0" i="0" dirty="0">
                <a:effectLst/>
                <a:latin typeface="Arial" panose="020B0604020202020204" pitchFamily="34" charset="0"/>
                <a:cs typeface="Arial" panose="020B0604020202020204" pitchFamily="34" charset="0"/>
              </a:rPr>
              <a:t>.</a:t>
            </a:r>
            <a:endParaRPr lang="en-US" sz="1600"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2065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05563-C545-9439-4450-65E28BF84B65}"/>
              </a:ext>
            </a:extLst>
          </p:cNvPr>
          <p:cNvSpPr>
            <a:spLocks noGrp="1"/>
          </p:cNvSpPr>
          <p:nvPr>
            <p:ph type="title"/>
          </p:nvPr>
        </p:nvSpPr>
        <p:spPr>
          <a:xfrm>
            <a:off x="1066800" y="526473"/>
            <a:ext cx="10058400" cy="989215"/>
          </a:xfrm>
        </p:spPr>
        <p:txBody>
          <a:bodyPr>
            <a:normAutofit fontScale="90000"/>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Analytical Approach of the </a:t>
            </a:r>
            <a:br>
              <a:rPr lang="en-US" sz="3600" b="1" dirty="0">
                <a:solidFill>
                  <a:schemeClr val="accent1">
                    <a:lumMod val="75000"/>
                  </a:schemeClr>
                </a:solidFill>
                <a:latin typeface="Arial" panose="020B0604020202020204" pitchFamily="34" charset="0"/>
                <a:cs typeface="Arial" panose="020B0604020202020204" pitchFamily="34" charset="0"/>
              </a:rPr>
            </a:br>
            <a:r>
              <a:rPr lang="en-US" sz="3600" b="1" dirty="0">
                <a:solidFill>
                  <a:schemeClr val="accent1">
                    <a:lumMod val="75000"/>
                  </a:schemeClr>
                </a:solidFill>
                <a:latin typeface="Arial" panose="020B0604020202020204" pitchFamily="34" charset="0"/>
                <a:cs typeface="Arial" panose="020B0604020202020204" pitchFamily="34" charset="0"/>
              </a:rPr>
              <a:t>Problem Statement</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211A955-4493-128D-59A1-7F6D41CB26E6}"/>
              </a:ext>
            </a:extLst>
          </p:cNvPr>
          <p:cNvSpPr>
            <a:spLocks noGrp="1"/>
          </p:cNvSpPr>
          <p:nvPr>
            <p:ph idx="1"/>
          </p:nvPr>
        </p:nvSpPr>
        <p:spPr>
          <a:xfrm>
            <a:off x="1197033" y="1953490"/>
            <a:ext cx="9958647" cy="4211782"/>
          </a:xfrm>
        </p:spPr>
        <p:txBody>
          <a:bodyPr>
            <a:normAutofit lnSpcReduction="10000"/>
          </a:bodyPr>
          <a:lstStyle/>
          <a:p>
            <a:pPr marL="0" indent="0" algn="l">
              <a:buNone/>
            </a:pPr>
            <a:r>
              <a:rPr lang="en-US" sz="1700" b="1" i="0" dirty="0">
                <a:solidFill>
                  <a:schemeClr val="tx1"/>
                </a:solidFill>
                <a:effectLst/>
                <a:latin typeface="Arial" panose="020B0604020202020204" pitchFamily="34" charset="0"/>
                <a:cs typeface="Arial" panose="020B0604020202020204" pitchFamily="34" charset="0"/>
              </a:rPr>
              <a:t>Data collection</a:t>
            </a:r>
            <a:r>
              <a:rPr lang="en-US" sz="1700" b="0" i="0" dirty="0">
                <a:solidFill>
                  <a:schemeClr val="tx1"/>
                </a:solidFill>
                <a:effectLst/>
                <a:latin typeface="Arial" panose="020B0604020202020204" pitchFamily="34" charset="0"/>
                <a:cs typeface="Arial" panose="020B0604020202020204" pitchFamily="34" charset="0"/>
              </a:rPr>
              <a:t> – Collected structured and unstructured data such as orders, browsing history, product views, reviews, ratings, cart activity, and delivery feedback to create a complete picture of customer behavior.</a:t>
            </a:r>
          </a:p>
          <a:p>
            <a:pPr marL="0" indent="0" algn="l">
              <a:buNone/>
            </a:pPr>
            <a:r>
              <a:rPr lang="en-US" sz="1700" b="1" i="0" dirty="0">
                <a:solidFill>
                  <a:schemeClr val="tx1"/>
                </a:solidFill>
                <a:effectLst/>
                <a:latin typeface="Arial" panose="020B0604020202020204" pitchFamily="34" charset="0"/>
                <a:cs typeface="Arial" panose="020B0604020202020204" pitchFamily="34" charset="0"/>
              </a:rPr>
              <a:t>Data cleaning and preparation for accurate analysis</a:t>
            </a:r>
            <a:r>
              <a:rPr lang="en-US" sz="1700" b="0" i="0" dirty="0">
                <a:solidFill>
                  <a:schemeClr val="tx1"/>
                </a:solidFill>
                <a:effectLst/>
                <a:latin typeface="Arial" panose="020B0604020202020204" pitchFamily="34" charset="0"/>
                <a:cs typeface="Arial" panose="020B0604020202020204" pitchFamily="34" charset="0"/>
              </a:rPr>
              <a:t> – Removed duplicate entries, handled missing values, correct inconsistent formats, and organize the dataset into a usable form so that the analysis becomes reliable and error-free.</a:t>
            </a:r>
          </a:p>
          <a:p>
            <a:pPr marL="0" indent="0" algn="l">
              <a:buNone/>
            </a:pPr>
            <a:r>
              <a:rPr lang="en-US" sz="1700" b="1" i="0" dirty="0">
                <a:solidFill>
                  <a:schemeClr val="tx1"/>
                </a:solidFill>
                <a:effectLst/>
                <a:latin typeface="Arial" panose="020B0604020202020204" pitchFamily="34" charset="0"/>
                <a:cs typeface="Arial" panose="020B0604020202020204" pitchFamily="34" charset="0"/>
              </a:rPr>
              <a:t>Customer behavior analysis to find shopping patterns</a:t>
            </a:r>
            <a:r>
              <a:rPr lang="en-US" sz="1700" b="0" i="0" dirty="0">
                <a:solidFill>
                  <a:schemeClr val="tx1"/>
                </a:solidFill>
                <a:effectLst/>
                <a:latin typeface="Arial" panose="020B0604020202020204" pitchFamily="34" charset="0"/>
                <a:cs typeface="Arial" panose="020B0604020202020204" pitchFamily="34" charset="0"/>
              </a:rPr>
              <a:t> – Analyzed how customers search, compare, purchase, and abandon products to understand their preferences, decision factors, and pain points in the shopping journey.</a:t>
            </a:r>
          </a:p>
          <a:p>
            <a:pPr marL="0" indent="0" algn="l">
              <a:buNone/>
            </a:pPr>
            <a:r>
              <a:rPr lang="en-US" sz="1700" b="1" i="0" dirty="0">
                <a:solidFill>
                  <a:schemeClr val="tx1"/>
                </a:solidFill>
                <a:effectLst/>
                <a:latin typeface="Arial" panose="020B0604020202020204" pitchFamily="34" charset="0"/>
                <a:cs typeface="Arial" panose="020B0604020202020204" pitchFamily="34" charset="0"/>
              </a:rPr>
              <a:t>Loyal customer identification through segmentation</a:t>
            </a:r>
            <a:r>
              <a:rPr lang="en-US" sz="1700" b="0" i="0" dirty="0">
                <a:solidFill>
                  <a:schemeClr val="tx1"/>
                </a:solidFill>
                <a:effectLst/>
                <a:latin typeface="Arial" panose="020B0604020202020204" pitchFamily="34" charset="0"/>
                <a:cs typeface="Arial" panose="020B0604020202020204" pitchFamily="34" charset="0"/>
              </a:rPr>
              <a:t> – Segmented customers based on repeat purchases, spending level, recency, and engagement to identify high-value and loyal customers who contribute strongly to long-term business growth.</a:t>
            </a:r>
          </a:p>
          <a:p>
            <a:pPr marL="0" indent="0" algn="l">
              <a:buNone/>
            </a:pPr>
            <a:r>
              <a:rPr lang="en-US" sz="1700" b="1" i="0" dirty="0">
                <a:solidFill>
                  <a:schemeClr val="tx1"/>
                </a:solidFill>
                <a:effectLst/>
                <a:latin typeface="Arial" panose="020B0604020202020204" pitchFamily="34" charset="0"/>
                <a:cs typeface="Arial" panose="020B0604020202020204" pitchFamily="34" charset="0"/>
              </a:rPr>
              <a:t>Improving loyal customers’ shopping experience</a:t>
            </a:r>
            <a:r>
              <a:rPr lang="en-US" sz="1700" b="0" i="0" dirty="0">
                <a:solidFill>
                  <a:schemeClr val="tx1"/>
                </a:solidFill>
                <a:effectLst/>
                <a:latin typeface="Arial" panose="020B0604020202020204" pitchFamily="34" charset="0"/>
                <a:cs typeface="Arial" panose="020B0604020202020204" pitchFamily="34" charset="0"/>
              </a:rPr>
              <a:t> – Used insights from loyalty and behavior analysis to offer personalized recommendations, targeted offers, better support, and smoother shopping experiences that increase satisfaction and retention.</a:t>
            </a:r>
          </a:p>
          <a:p>
            <a:pPr marL="0" indent="0">
              <a:buNone/>
            </a:pPr>
            <a:endParaRPr lang="en-IN" dirty="0">
              <a:solidFill>
                <a:schemeClr val="tx1"/>
              </a:solidFill>
            </a:endParaRPr>
          </a:p>
        </p:txBody>
      </p:sp>
    </p:spTree>
    <p:extLst>
      <p:ext uri="{BB962C8B-B14F-4D97-AF65-F5344CB8AC3E}">
        <p14:creationId xmlns:p14="http://schemas.microsoft.com/office/powerpoint/2010/main" val="77328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3029-0F3A-1945-F33E-1D6554E5EA62}"/>
              </a:ext>
            </a:extLst>
          </p:cNvPr>
          <p:cNvSpPr>
            <a:spLocks noGrp="1"/>
          </p:cNvSpPr>
          <p:nvPr>
            <p:ph type="title"/>
          </p:nvPr>
        </p:nvSpPr>
        <p:spPr>
          <a:xfrm>
            <a:off x="1097280" y="494298"/>
            <a:ext cx="10058400" cy="989215"/>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Key Performance Indicators</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CAECB7C-7323-5A45-5E94-BA74A14E9937}"/>
              </a:ext>
            </a:extLst>
          </p:cNvPr>
          <p:cNvSpPr txBox="1"/>
          <p:nvPr/>
        </p:nvSpPr>
        <p:spPr>
          <a:xfrm>
            <a:off x="1620982" y="2119745"/>
            <a:ext cx="2299853" cy="1323439"/>
          </a:xfrm>
          <a:prstGeom prst="rect">
            <a:avLst/>
          </a:prstGeom>
          <a:solidFill>
            <a:schemeClr val="bg1">
              <a:lumMod val="85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3200" b="1" dirty="0">
                <a:latin typeface="Arial" panose="020B0604020202020204" pitchFamily="34" charset="0"/>
                <a:cs typeface="Arial" panose="020B0604020202020204" pitchFamily="34" charset="0"/>
              </a:rPr>
              <a:t>113K</a:t>
            </a:r>
          </a:p>
          <a:p>
            <a:pPr algn="ct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Total Unique Customers Count</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F04160E-A29A-C952-71EC-A7FCB277351F}"/>
              </a:ext>
            </a:extLst>
          </p:cNvPr>
          <p:cNvSpPr txBox="1"/>
          <p:nvPr/>
        </p:nvSpPr>
        <p:spPr>
          <a:xfrm>
            <a:off x="4946073" y="2119745"/>
            <a:ext cx="2299853" cy="1323439"/>
          </a:xfrm>
          <a:prstGeom prst="rect">
            <a:avLst/>
          </a:prstGeom>
          <a:solidFill>
            <a:schemeClr val="bg1">
              <a:lumMod val="85000"/>
            </a:schemeClr>
          </a:solidFill>
          <a:ln>
            <a:solidFill>
              <a:schemeClr val="tx1"/>
            </a:solidFill>
          </a:ln>
          <a:effectLst>
            <a:outerShdw blurRad="50800" dist="38100" dir="5400000" algn="t" rotWithShape="0">
              <a:prstClr val="black">
                <a:alpha val="40000"/>
              </a:prstClr>
            </a:outerShdw>
          </a:effectLst>
        </p:spPr>
        <p:txBody>
          <a:bodyPr wrap="square" rtlCol="0">
            <a:spAutoFit/>
          </a:bodyPr>
          <a:lstStyle/>
          <a:p>
            <a:pPr algn="ctr"/>
            <a:r>
              <a:rPr lang="en-US" sz="3200" b="1" dirty="0">
                <a:latin typeface="Arial" panose="020B0604020202020204" pitchFamily="34" charset="0"/>
                <a:cs typeface="Arial" panose="020B0604020202020204" pitchFamily="34" charset="0"/>
              </a:rPr>
              <a:t>107.24M</a:t>
            </a:r>
          </a:p>
          <a:p>
            <a:pPr algn="ctr"/>
            <a:br>
              <a:rPr lang="en-US" sz="1600" dirty="0">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Total Revenue Generated</a:t>
            </a:r>
            <a:endParaRPr lang="en-IN" sz="1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4B11C01-952F-10EE-6560-4102D7913FE4}"/>
              </a:ext>
            </a:extLst>
          </p:cNvPr>
          <p:cNvSpPr txBox="1"/>
          <p:nvPr/>
        </p:nvSpPr>
        <p:spPr>
          <a:xfrm>
            <a:off x="8271165" y="2119745"/>
            <a:ext cx="2299854" cy="1323439"/>
          </a:xfrm>
          <a:prstGeom prst="rect">
            <a:avLst/>
          </a:prstGeom>
          <a:solidFill>
            <a:schemeClr val="bg1">
              <a:lumMod val="85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3200" b="1" dirty="0">
                <a:latin typeface="Arial" panose="020B0604020202020204" pitchFamily="34" charset="0"/>
                <a:cs typeface="Arial" panose="020B0604020202020204" pitchFamily="34" charset="0"/>
              </a:rPr>
              <a:t>31K</a:t>
            </a:r>
            <a:br>
              <a:rPr lang="en-US" sz="1600" b="1" dirty="0">
                <a:latin typeface="Arial" panose="020B0604020202020204" pitchFamily="34" charset="0"/>
                <a:cs typeface="Arial" panose="020B0604020202020204" pitchFamily="34" charset="0"/>
              </a:rPr>
            </a:br>
            <a:endParaRPr lang="en-US" sz="1600" b="1" dirty="0">
              <a:latin typeface="Arial" panose="020B0604020202020204" pitchFamily="34" charset="0"/>
              <a:cs typeface="Arial" panose="020B0604020202020204" pitchFamily="34" charset="0"/>
            </a:endParaRPr>
          </a:p>
          <a:p>
            <a:pPr algn="ctr"/>
            <a:r>
              <a:rPr lang="en-US" sz="1600" dirty="0">
                <a:latin typeface="Arial" panose="020B0604020202020204" pitchFamily="34" charset="0"/>
                <a:cs typeface="Arial" panose="020B0604020202020204" pitchFamily="34" charset="0"/>
              </a:rPr>
              <a:t>Total Returned Products Count</a:t>
            </a:r>
            <a:endParaRPr lang="en-IN"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9290910-3FD6-7639-2979-107F16C38167}"/>
              </a:ext>
            </a:extLst>
          </p:cNvPr>
          <p:cNvSpPr txBox="1"/>
          <p:nvPr/>
        </p:nvSpPr>
        <p:spPr>
          <a:xfrm>
            <a:off x="2770910" y="4211782"/>
            <a:ext cx="2299853" cy="1323439"/>
          </a:xfrm>
          <a:prstGeom prst="rect">
            <a:avLst/>
          </a:prstGeom>
          <a:solidFill>
            <a:schemeClr val="bg1">
              <a:lumMod val="85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3200" b="1" dirty="0">
                <a:latin typeface="Arial" panose="020B0604020202020204" pitchFamily="34" charset="0"/>
                <a:cs typeface="Arial" panose="020B0604020202020204" pitchFamily="34" charset="0"/>
              </a:rPr>
              <a:t>44</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lgn="ctr"/>
            <a:r>
              <a:rPr lang="en-IN" sz="1600" dirty="0">
                <a:latin typeface="Arial" panose="020B0604020202020204" pitchFamily="34" charset="0"/>
                <a:cs typeface="Arial" panose="020B0604020202020204" pitchFamily="34" charset="0"/>
              </a:rPr>
              <a:t>Total Unique Products Count</a:t>
            </a:r>
            <a:endParaRPr lang="en-US" sz="16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25DDA16-D146-8744-8B08-CC540F403CA1}"/>
              </a:ext>
            </a:extLst>
          </p:cNvPr>
          <p:cNvSpPr txBox="1"/>
          <p:nvPr/>
        </p:nvSpPr>
        <p:spPr>
          <a:xfrm>
            <a:off x="7121238" y="4211782"/>
            <a:ext cx="2299853" cy="1323439"/>
          </a:xfrm>
          <a:prstGeom prst="rect">
            <a:avLst/>
          </a:prstGeom>
          <a:solidFill>
            <a:schemeClr val="bg1">
              <a:lumMod val="85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3200" b="1" dirty="0">
                <a:latin typeface="Arial" panose="020B0604020202020204" pitchFamily="34" charset="0"/>
                <a:cs typeface="Arial" panose="020B0604020202020204" pitchFamily="34" charset="0"/>
              </a:rPr>
              <a:t>9</a:t>
            </a:r>
          </a:p>
          <a:p>
            <a:pPr algn="ctr"/>
            <a:endParaRPr lang="en-US" sz="1600" dirty="0">
              <a:latin typeface="Arial" panose="020B0604020202020204" pitchFamily="34" charset="0"/>
              <a:cs typeface="Arial" panose="020B0604020202020204" pitchFamily="34" charset="0"/>
            </a:endParaRPr>
          </a:p>
          <a:p>
            <a:pPr algn="ctr"/>
            <a:r>
              <a:rPr lang="en-US" sz="1600" dirty="0">
                <a:latin typeface="Arial" panose="020B0604020202020204" pitchFamily="34" charset="0"/>
                <a:cs typeface="Arial" panose="020B0604020202020204" pitchFamily="34" charset="0"/>
              </a:rPr>
              <a:t>Average Number of Days for a Delivery</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666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B26E-1D6F-C46C-C2AE-F0BD248FF8B5}"/>
              </a:ext>
            </a:extLst>
          </p:cNvPr>
          <p:cNvSpPr>
            <a:spLocks noGrp="1"/>
          </p:cNvSpPr>
          <p:nvPr>
            <p:ph type="title"/>
          </p:nvPr>
        </p:nvSpPr>
        <p:spPr>
          <a:xfrm>
            <a:off x="1066800" y="374073"/>
            <a:ext cx="10058400" cy="1003069"/>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Annual Unique Customer Count</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0DF6353-2D0A-74B1-C5D1-A01BC32B993D}"/>
              </a:ext>
            </a:extLst>
          </p:cNvPr>
          <p:cNvPicPr>
            <a:picLocks noChangeAspect="1"/>
          </p:cNvPicPr>
          <p:nvPr/>
        </p:nvPicPr>
        <p:blipFill>
          <a:blip r:embed="rId2"/>
          <a:stretch>
            <a:fillRect/>
          </a:stretch>
        </p:blipFill>
        <p:spPr>
          <a:xfrm>
            <a:off x="2996045" y="1866206"/>
            <a:ext cx="6199910" cy="2539539"/>
          </a:xfrm>
          <a:prstGeom prst="rect">
            <a:avLst/>
          </a:prstGeom>
        </p:spPr>
      </p:pic>
      <p:sp>
        <p:nvSpPr>
          <p:cNvPr id="8" name="TextBox 7">
            <a:extLst>
              <a:ext uri="{FF2B5EF4-FFF2-40B4-BE49-F238E27FC236}">
                <a16:creationId xmlns:a16="http://schemas.microsoft.com/office/drawing/2014/main" id="{97B12C60-3E3D-0D3D-FC0F-5CC2B2444D3E}"/>
              </a:ext>
            </a:extLst>
          </p:cNvPr>
          <p:cNvSpPr txBox="1"/>
          <p:nvPr/>
        </p:nvSpPr>
        <p:spPr>
          <a:xfrm>
            <a:off x="1614054" y="4530435"/>
            <a:ext cx="8963891" cy="1754326"/>
          </a:xfrm>
          <a:prstGeom prst="rect">
            <a:avLst/>
          </a:prstGeom>
          <a:noFill/>
        </p:spPr>
        <p:txBody>
          <a:bodyPr wrap="square" rtlCol="0">
            <a:spAutoFit/>
          </a:bodyPr>
          <a:lstStyle/>
          <a:p>
            <a:pPr marL="486918" lvl="1" indent="-285750">
              <a:buFont typeface="Arial" panose="020B0604020202020204" pitchFamily="34" charset="0"/>
              <a:buChar char="•"/>
            </a:pPr>
            <a:r>
              <a:rPr lang="en-US" dirty="0"/>
              <a:t>From 2015 to 2019, the count of unique customers stayed consistent with the average count as 17.5K.</a:t>
            </a:r>
          </a:p>
          <a:p>
            <a:pPr marL="201168" lvl="1"/>
            <a:endParaRPr lang="en-US" dirty="0"/>
          </a:p>
          <a:p>
            <a:pPr marL="486918" lvl="1" indent="-285750">
              <a:buFont typeface="Arial" panose="020B0604020202020204" pitchFamily="34" charset="0"/>
              <a:buChar char="•"/>
            </a:pPr>
            <a:r>
              <a:rPr lang="en-US" dirty="0"/>
              <a:t>But in 2020 the count of unique customers raised to 25.2K.</a:t>
            </a:r>
          </a:p>
          <a:p>
            <a:pPr marL="201168" lvl="1"/>
            <a:endParaRPr lang="en-US" dirty="0"/>
          </a:p>
          <a:p>
            <a:pPr marL="486918" lvl="1" indent="-285750">
              <a:buFont typeface="Arial" panose="020B0604020202020204" pitchFamily="34" charset="0"/>
              <a:buChar char="•"/>
            </a:pPr>
            <a:r>
              <a:rPr lang="en-US" dirty="0"/>
              <a:t>This raise in customers is due to COVID pandemic.</a:t>
            </a:r>
            <a:endParaRPr lang="en-IN" dirty="0"/>
          </a:p>
        </p:txBody>
      </p:sp>
    </p:spTree>
    <p:extLst>
      <p:ext uri="{BB962C8B-B14F-4D97-AF65-F5344CB8AC3E}">
        <p14:creationId xmlns:p14="http://schemas.microsoft.com/office/powerpoint/2010/main" val="4117691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36F9-7855-65C6-6F73-D083601B9E84}"/>
              </a:ext>
            </a:extLst>
          </p:cNvPr>
          <p:cNvSpPr>
            <a:spLocks noGrp="1"/>
          </p:cNvSpPr>
          <p:nvPr>
            <p:ph type="title"/>
          </p:nvPr>
        </p:nvSpPr>
        <p:spPr>
          <a:xfrm>
            <a:off x="1097280" y="429491"/>
            <a:ext cx="10058400" cy="919942"/>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Sales Per year</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6C86B4F-6FC8-1A4D-D69C-763385366D84}"/>
              </a:ext>
            </a:extLst>
          </p:cNvPr>
          <p:cNvPicPr>
            <a:picLocks noChangeAspect="1"/>
          </p:cNvPicPr>
          <p:nvPr/>
        </p:nvPicPr>
        <p:blipFill>
          <a:blip r:embed="rId2"/>
          <a:stretch>
            <a:fillRect/>
          </a:stretch>
        </p:blipFill>
        <p:spPr>
          <a:xfrm>
            <a:off x="3048000" y="1856510"/>
            <a:ext cx="6096000" cy="2757054"/>
          </a:xfrm>
          <a:prstGeom prst="rect">
            <a:avLst/>
          </a:prstGeom>
        </p:spPr>
      </p:pic>
      <p:sp>
        <p:nvSpPr>
          <p:cNvPr id="6" name="TextBox 5">
            <a:extLst>
              <a:ext uri="{FF2B5EF4-FFF2-40B4-BE49-F238E27FC236}">
                <a16:creationId xmlns:a16="http://schemas.microsoft.com/office/drawing/2014/main" id="{9A60AAD5-68A6-0DD8-84E2-FB90D494DF0D}"/>
              </a:ext>
            </a:extLst>
          </p:cNvPr>
          <p:cNvSpPr txBox="1"/>
          <p:nvPr/>
        </p:nvSpPr>
        <p:spPr>
          <a:xfrm>
            <a:off x="1662545" y="4965744"/>
            <a:ext cx="8866909" cy="1077218"/>
          </a:xfrm>
          <a:prstGeom prst="rect">
            <a:avLst/>
          </a:prstGeom>
          <a:noFill/>
        </p:spPr>
        <p:txBody>
          <a:bodyPr wrap="square" rtlCol="0">
            <a:spAutoFit/>
          </a:bodyPr>
          <a:lstStyle/>
          <a:p>
            <a:pPr marL="285750" marR="0" lvl="0" indent="-285750" algn="l" rtl="0">
              <a:spcBef>
                <a:spcPts val="0"/>
              </a:spcBef>
              <a:spcAft>
                <a:spcPts val="0"/>
              </a:spcAft>
              <a:buClr>
                <a:schemeClr val="dk1"/>
              </a:buClr>
              <a:buSzPts val="1800"/>
              <a:buFont typeface="Arial" panose="020B0604020202020204" pitchFamily="34" charset="0"/>
              <a:buChar char="•"/>
            </a:pPr>
            <a:r>
              <a:rPr lang="en-US" sz="1600" dirty="0">
                <a:solidFill>
                  <a:schemeClr val="dk1"/>
                </a:solidFill>
                <a:latin typeface="Arial" panose="020B0604020202020204" pitchFamily="34" charset="0"/>
                <a:ea typeface="Trebuchet MS"/>
                <a:cs typeface="Arial" panose="020B0604020202020204" pitchFamily="34" charset="0"/>
                <a:sym typeface="Trebuchet MS"/>
              </a:rPr>
              <a:t>There has been increase and decrease in sales for all the products over the years. </a:t>
            </a:r>
          </a:p>
          <a:p>
            <a:pPr marR="0" lvl="0" algn="l" rtl="0">
              <a:spcBef>
                <a:spcPts val="0"/>
              </a:spcBef>
              <a:spcAft>
                <a:spcPts val="0"/>
              </a:spcAft>
              <a:buClr>
                <a:schemeClr val="dk1"/>
              </a:buClr>
              <a:buSzPts val="1800"/>
            </a:pPr>
            <a:endParaRPr lang="en-US" sz="1600" dirty="0">
              <a:latin typeface="Arial" panose="020B0604020202020204" pitchFamily="34" charset="0"/>
              <a:cs typeface="Arial" panose="020B0604020202020204" pitchFamily="34" charset="0"/>
            </a:endParaRPr>
          </a:p>
          <a:p>
            <a:pPr marL="285750" marR="0" lvl="0" indent="-285750" algn="l" rtl="0">
              <a:spcBef>
                <a:spcPts val="0"/>
              </a:spcBef>
              <a:spcAft>
                <a:spcPts val="0"/>
              </a:spcAft>
              <a:buClr>
                <a:schemeClr val="dk1"/>
              </a:buClr>
              <a:buSzPts val="1800"/>
              <a:buFont typeface="Arial" panose="020B0604020202020204" pitchFamily="34" charset="0"/>
              <a:buChar char="•"/>
            </a:pPr>
            <a:r>
              <a:rPr lang="en-US" sz="1600" dirty="0">
                <a:solidFill>
                  <a:schemeClr val="dk1"/>
                </a:solidFill>
                <a:latin typeface="Arial" panose="020B0604020202020204" pitchFamily="34" charset="0"/>
                <a:ea typeface="Trebuchet MS"/>
                <a:cs typeface="Arial" panose="020B0604020202020204" pitchFamily="34" charset="0"/>
                <a:sym typeface="Trebuchet MS"/>
              </a:rPr>
              <a:t>But in common, all the products were bought more in 2020. Reason could be because of the pandemic.</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483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188C-233E-74BE-E9AB-4380F3D4B978}"/>
              </a:ext>
            </a:extLst>
          </p:cNvPr>
          <p:cNvSpPr>
            <a:spLocks noGrp="1"/>
          </p:cNvSpPr>
          <p:nvPr>
            <p:ph type="title"/>
          </p:nvPr>
        </p:nvSpPr>
        <p:spPr>
          <a:xfrm>
            <a:off x="1097280" y="401782"/>
            <a:ext cx="10058400" cy="933796"/>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Returned Order Count by Reason</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37D4B6F2-790E-9CFA-9397-6FA5815F26AA}"/>
              </a:ext>
            </a:extLst>
          </p:cNvPr>
          <p:cNvPicPr>
            <a:picLocks noChangeAspect="1"/>
          </p:cNvPicPr>
          <p:nvPr/>
        </p:nvPicPr>
        <p:blipFill>
          <a:blip r:embed="rId2"/>
          <a:stretch>
            <a:fillRect/>
          </a:stretch>
        </p:blipFill>
        <p:spPr>
          <a:xfrm>
            <a:off x="2964874" y="1953491"/>
            <a:ext cx="6068290" cy="2743200"/>
          </a:xfrm>
          <a:prstGeom prst="rect">
            <a:avLst/>
          </a:prstGeom>
        </p:spPr>
      </p:pic>
      <p:sp>
        <p:nvSpPr>
          <p:cNvPr id="6" name="TextBox 5">
            <a:extLst>
              <a:ext uri="{FF2B5EF4-FFF2-40B4-BE49-F238E27FC236}">
                <a16:creationId xmlns:a16="http://schemas.microsoft.com/office/drawing/2014/main" id="{88F74CA7-8B19-D44B-8DAB-6EB736CF011F}"/>
              </a:ext>
            </a:extLst>
          </p:cNvPr>
          <p:cNvSpPr txBox="1"/>
          <p:nvPr/>
        </p:nvSpPr>
        <p:spPr>
          <a:xfrm>
            <a:off x="1471352" y="4923378"/>
            <a:ext cx="9310255" cy="1323439"/>
          </a:xfrm>
          <a:prstGeom prst="rect">
            <a:avLst/>
          </a:prstGeom>
          <a:noFill/>
        </p:spPr>
        <p:txBody>
          <a:bodyPr wrap="square" rtlCol="0">
            <a:spAutoFit/>
          </a:bodyPr>
          <a:lstStyle/>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High return rate</a:t>
            </a:r>
            <a:r>
              <a:rPr lang="en-US" sz="1600" b="0" i="0" dirty="0">
                <a:effectLst/>
                <a:latin typeface="Arial" panose="020B0604020202020204" pitchFamily="34" charset="0"/>
                <a:cs typeface="Arial" panose="020B0604020202020204" pitchFamily="34" charset="0"/>
              </a:rPr>
              <a:t>: 30.53K orders returned (26.85% of total), showing a significant operational challenge that affects revenue and customer trust.</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Quality issues are the main cause</a:t>
            </a:r>
            <a:r>
              <a:rPr lang="en-US" sz="1600" b="0" i="0" dirty="0">
                <a:effectLst/>
                <a:latin typeface="Arial" panose="020B0604020202020204" pitchFamily="34" charset="0"/>
                <a:cs typeface="Arial" panose="020B0604020202020204" pitchFamily="34" charset="0"/>
              </a:rPr>
              <a:t>: 6.1K returns (19.87% of total returns) were due to defective or poor-quality products, calling for better quality control measures.</a:t>
            </a:r>
          </a:p>
        </p:txBody>
      </p:sp>
    </p:spTree>
    <p:extLst>
      <p:ext uri="{BB962C8B-B14F-4D97-AF65-F5344CB8AC3E}">
        <p14:creationId xmlns:p14="http://schemas.microsoft.com/office/powerpoint/2010/main" val="1468051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BA8D1-3B6B-9AF6-DA90-289F6127845A}"/>
              </a:ext>
            </a:extLst>
          </p:cNvPr>
          <p:cNvSpPr>
            <a:spLocks noGrp="1"/>
          </p:cNvSpPr>
          <p:nvPr>
            <p:ph type="title"/>
          </p:nvPr>
        </p:nvSpPr>
        <p:spPr>
          <a:xfrm>
            <a:off x="1066800" y="401782"/>
            <a:ext cx="10058400" cy="878378"/>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Product Performance Analysis</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137E9AC-837E-3666-31CB-6B1732543294}"/>
              </a:ext>
            </a:extLst>
          </p:cNvPr>
          <p:cNvPicPr>
            <a:picLocks noChangeAspect="1"/>
          </p:cNvPicPr>
          <p:nvPr/>
        </p:nvPicPr>
        <p:blipFill>
          <a:blip r:embed="rId2"/>
          <a:stretch>
            <a:fillRect/>
          </a:stretch>
        </p:blipFill>
        <p:spPr>
          <a:xfrm>
            <a:off x="6802582" y="1814946"/>
            <a:ext cx="4202903" cy="4405745"/>
          </a:xfrm>
          <a:prstGeom prst="rect">
            <a:avLst/>
          </a:prstGeom>
        </p:spPr>
      </p:pic>
      <p:sp>
        <p:nvSpPr>
          <p:cNvPr id="6" name="TextBox 5">
            <a:extLst>
              <a:ext uri="{FF2B5EF4-FFF2-40B4-BE49-F238E27FC236}">
                <a16:creationId xmlns:a16="http://schemas.microsoft.com/office/drawing/2014/main" id="{DD377096-9EEF-4DB7-3D01-591D9D1770DA}"/>
              </a:ext>
            </a:extLst>
          </p:cNvPr>
          <p:cNvSpPr txBox="1"/>
          <p:nvPr/>
        </p:nvSpPr>
        <p:spPr>
          <a:xfrm>
            <a:off x="1330036" y="2152701"/>
            <a:ext cx="5306291" cy="3785652"/>
          </a:xfrm>
          <a:prstGeom prst="rect">
            <a:avLst/>
          </a:prstGeom>
          <a:noFill/>
        </p:spPr>
        <p:txBody>
          <a:bodyPr wrap="square" rtlCol="0">
            <a:spAutoFit/>
          </a:bodyPr>
          <a:lstStyle/>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Top product</a:t>
            </a:r>
            <a:r>
              <a:rPr lang="en-US" sz="1600" b="0" i="0" dirty="0">
                <a:effectLst/>
                <a:latin typeface="Arial" panose="020B0604020202020204" pitchFamily="34" charset="0"/>
                <a:cs typeface="Arial" panose="020B0604020202020204" pitchFamily="34" charset="0"/>
              </a:rPr>
              <a:t>: "Canon EOS 600D 18MP CMOS DSLR Camera - Black“ - </a:t>
            </a:r>
            <a:r>
              <a:rPr lang="en-US" sz="1600" b="1" i="0" dirty="0">
                <a:effectLst/>
                <a:latin typeface="Arial" panose="020B0604020202020204" pitchFamily="34" charset="0"/>
                <a:cs typeface="Arial" panose="020B0604020202020204" pitchFamily="34" charset="0"/>
              </a:rPr>
              <a:t>12.95% of total sales</a:t>
            </a:r>
            <a:r>
              <a:rPr lang="en-US" sz="1600" b="0" i="0" dirty="0">
                <a:effectLst/>
                <a:latin typeface="Arial" panose="020B0604020202020204" pitchFamily="34" charset="0"/>
                <a:cs typeface="Arial" panose="020B0604020202020204" pitchFamily="34" charset="0"/>
              </a:rPr>
              <a:t>, indicating strong electronics demand.</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Lowest product</a:t>
            </a:r>
            <a:r>
              <a:rPr lang="en-US" sz="1600" b="0" i="0" dirty="0">
                <a:effectLst/>
                <a:latin typeface="Arial" panose="020B0604020202020204" pitchFamily="34" charset="0"/>
                <a:cs typeface="Arial" panose="020B0604020202020204" pitchFamily="34" charset="0"/>
              </a:rPr>
              <a:t>: "Hemani Ultra Slim Tea - 10 Bags"  - only </a:t>
            </a:r>
            <a:r>
              <a:rPr lang="en-US" sz="1600" b="1" i="0" dirty="0">
                <a:effectLst/>
                <a:latin typeface="Arial" panose="020B0604020202020204" pitchFamily="34" charset="0"/>
                <a:cs typeface="Arial" panose="020B0604020202020204" pitchFamily="34" charset="0"/>
              </a:rPr>
              <a:t>0.01% of total sales</a:t>
            </a:r>
            <a:r>
              <a:rPr lang="en-US" sz="1600" b="0" i="0" dirty="0">
                <a:effectLst/>
                <a:latin typeface="Arial" panose="020B0604020202020204" pitchFamily="34" charset="0"/>
                <a:cs typeface="Arial" panose="020B0604020202020204" pitchFamily="34" charset="0"/>
              </a:rPr>
              <a:t>, showing minimal customer interest.</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Key insight</a:t>
            </a:r>
            <a:r>
              <a:rPr lang="en-US" sz="1600" b="0" i="0" dirty="0">
                <a:effectLst/>
                <a:latin typeface="Arial" panose="020B0604020202020204" pitchFamily="34" charset="0"/>
                <a:cs typeface="Arial" panose="020B0604020202020204" pitchFamily="34" charset="0"/>
              </a:rPr>
              <a:t>: Sales are highly concentrated in a few products, with electronics outperforming other categories significantly.</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Actionable takeaway</a:t>
            </a:r>
            <a:r>
              <a:rPr lang="en-US" sz="1600" b="0" i="0" dirty="0">
                <a:effectLst/>
                <a:latin typeface="Arial" panose="020B0604020202020204" pitchFamily="34" charset="0"/>
                <a:cs typeface="Arial" panose="020B0604020202020204" pitchFamily="34" charset="0"/>
              </a:rPr>
              <a:t>: Prioritize high-performing products and reassess strategy for low-performing ones to optimize revenue.</a:t>
            </a:r>
          </a:p>
        </p:txBody>
      </p:sp>
    </p:spTree>
    <p:extLst>
      <p:ext uri="{BB962C8B-B14F-4D97-AF65-F5344CB8AC3E}">
        <p14:creationId xmlns:p14="http://schemas.microsoft.com/office/powerpoint/2010/main" val="3077339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4714-574D-F96C-762D-A7B7EB7E084C}"/>
              </a:ext>
            </a:extLst>
          </p:cNvPr>
          <p:cNvSpPr>
            <a:spLocks noGrp="1"/>
          </p:cNvSpPr>
          <p:nvPr>
            <p:ph type="title"/>
          </p:nvPr>
        </p:nvSpPr>
        <p:spPr>
          <a:xfrm>
            <a:off x="1870363" y="415637"/>
            <a:ext cx="8451273" cy="961505"/>
          </a:xfrm>
        </p:spPr>
        <p:txBody>
          <a:bodyPr>
            <a:normAutofit fontScale="90000"/>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Average Time to Deliver Products by Delivery Type</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78F2CC6-9001-DBBA-BC61-FFCB8B59C053}"/>
              </a:ext>
            </a:extLst>
          </p:cNvPr>
          <p:cNvPicPr>
            <a:picLocks noChangeAspect="1"/>
          </p:cNvPicPr>
          <p:nvPr/>
        </p:nvPicPr>
        <p:blipFill>
          <a:blip r:embed="rId2"/>
          <a:stretch>
            <a:fillRect/>
          </a:stretch>
        </p:blipFill>
        <p:spPr>
          <a:xfrm>
            <a:off x="6220691" y="1855713"/>
            <a:ext cx="4932219" cy="3657600"/>
          </a:xfrm>
          <a:prstGeom prst="rect">
            <a:avLst/>
          </a:prstGeom>
        </p:spPr>
      </p:pic>
      <p:sp>
        <p:nvSpPr>
          <p:cNvPr id="5" name="TextBox 4">
            <a:extLst>
              <a:ext uri="{FF2B5EF4-FFF2-40B4-BE49-F238E27FC236}">
                <a16:creationId xmlns:a16="http://schemas.microsoft.com/office/drawing/2014/main" id="{FC91DDDF-59AB-E8D8-5849-7777E003F130}"/>
              </a:ext>
            </a:extLst>
          </p:cNvPr>
          <p:cNvSpPr txBox="1"/>
          <p:nvPr/>
        </p:nvSpPr>
        <p:spPr>
          <a:xfrm>
            <a:off x="1302327" y="2161019"/>
            <a:ext cx="4668984" cy="3046988"/>
          </a:xfrm>
          <a:prstGeom prst="rect">
            <a:avLst/>
          </a:prstGeom>
          <a:noFill/>
        </p:spPr>
        <p:txBody>
          <a:bodyPr wrap="square" rtlCol="0">
            <a:spAutoFit/>
          </a:bodyPr>
          <a:lstStyle/>
          <a:p>
            <a:pPr marL="285750" indent="-285750" algn="l">
              <a:buFont typeface="Arial" panose="020B0604020202020204" pitchFamily="34" charset="0"/>
              <a:buChar char="•"/>
            </a:pPr>
            <a:r>
              <a:rPr lang="en-US" sz="1600" i="0" dirty="0">
                <a:effectLst/>
                <a:latin typeface="Arial" panose="020B0604020202020204" pitchFamily="34" charset="0"/>
                <a:cs typeface="Arial" panose="020B0604020202020204" pitchFamily="34" charset="0"/>
              </a:rPr>
              <a:t>Express delivery averages 3 days per order</a:t>
            </a:r>
            <a:r>
              <a:rPr lang="en-US" sz="1600" b="0" i="0" dirty="0">
                <a:effectLst/>
                <a:latin typeface="Arial" panose="020B0604020202020204" pitchFamily="34" charset="0"/>
                <a:cs typeface="Arial" panose="020B0604020202020204" pitchFamily="34" charset="0"/>
              </a:rPr>
              <a:t>, making it the fastest and most reliable option for time-sensitive customers.</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i="0" dirty="0">
                <a:effectLst/>
                <a:latin typeface="Arial" panose="020B0604020202020204" pitchFamily="34" charset="0"/>
                <a:cs typeface="Arial" panose="020B0604020202020204" pitchFamily="34" charset="0"/>
              </a:rPr>
              <a:t>International shipping takes 15 days on average</a:t>
            </a:r>
            <a:r>
              <a:rPr lang="en-US" sz="1600" b="0" i="0" dirty="0">
                <a:effectLst/>
                <a:latin typeface="Arial" panose="020B0604020202020204" pitchFamily="34" charset="0"/>
                <a:cs typeface="Arial" panose="020B0604020202020204" pitchFamily="34" charset="0"/>
              </a:rPr>
              <a:t>, due to customs, longer transit, and cross-border logistics.</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Strategic insight</a:t>
            </a:r>
            <a:r>
              <a:rPr lang="en-US" sz="1600" b="0" i="0" dirty="0">
                <a:effectLst/>
                <a:latin typeface="Arial" panose="020B0604020202020204" pitchFamily="34" charset="0"/>
                <a:cs typeface="Arial" panose="020B0604020202020204" pitchFamily="34" charset="0"/>
              </a:rPr>
              <a:t>: The 12-day difference calls for managing customer expectations and offering faster international options to improve satisfaction.</a:t>
            </a:r>
          </a:p>
        </p:txBody>
      </p:sp>
    </p:spTree>
    <p:extLst>
      <p:ext uri="{BB962C8B-B14F-4D97-AF65-F5344CB8AC3E}">
        <p14:creationId xmlns:p14="http://schemas.microsoft.com/office/powerpoint/2010/main" val="1979011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42B27-AC96-2288-B00A-375C6106CBD4}"/>
              </a:ext>
            </a:extLst>
          </p:cNvPr>
          <p:cNvSpPr>
            <a:spLocks noGrp="1"/>
          </p:cNvSpPr>
          <p:nvPr>
            <p:ph type="title"/>
          </p:nvPr>
        </p:nvSpPr>
        <p:spPr>
          <a:xfrm>
            <a:off x="1066800" y="263237"/>
            <a:ext cx="10058400" cy="961505"/>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Dashboard</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30507F2D-18DD-0B35-E8EA-4014A3488FA0}"/>
              </a:ext>
            </a:extLst>
          </p:cNvPr>
          <p:cNvPicPr>
            <a:picLocks noChangeAspect="1"/>
          </p:cNvPicPr>
          <p:nvPr/>
        </p:nvPicPr>
        <p:blipFill>
          <a:blip r:embed="rId2"/>
          <a:stretch>
            <a:fillRect/>
          </a:stretch>
        </p:blipFill>
        <p:spPr>
          <a:xfrm>
            <a:off x="1004454" y="1314797"/>
            <a:ext cx="10183091" cy="4821381"/>
          </a:xfrm>
          <a:prstGeom prst="rect">
            <a:avLst/>
          </a:prstGeom>
          <a:ln>
            <a:solidFill>
              <a:schemeClr val="tx1"/>
            </a:solidFill>
          </a:ln>
        </p:spPr>
      </p:pic>
    </p:spTree>
    <p:extLst>
      <p:ext uri="{BB962C8B-B14F-4D97-AF65-F5344CB8AC3E}">
        <p14:creationId xmlns:p14="http://schemas.microsoft.com/office/powerpoint/2010/main" val="3635113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A916E-3D27-0D53-C9F8-D91790BA2195}"/>
              </a:ext>
            </a:extLst>
          </p:cNvPr>
          <p:cNvSpPr>
            <a:spLocks noGrp="1"/>
          </p:cNvSpPr>
          <p:nvPr>
            <p:ph type="title"/>
          </p:nvPr>
        </p:nvSpPr>
        <p:spPr>
          <a:xfrm>
            <a:off x="1097280" y="263236"/>
            <a:ext cx="10058400" cy="947651"/>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Dashboard</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A782EAC-4303-49DE-FA12-CEE20C26D284}"/>
              </a:ext>
            </a:extLst>
          </p:cNvPr>
          <p:cNvPicPr>
            <a:picLocks noChangeAspect="1"/>
          </p:cNvPicPr>
          <p:nvPr/>
        </p:nvPicPr>
        <p:blipFill>
          <a:blip r:embed="rId2"/>
          <a:stretch>
            <a:fillRect/>
          </a:stretch>
        </p:blipFill>
        <p:spPr>
          <a:xfrm>
            <a:off x="1097280" y="1335578"/>
            <a:ext cx="10166464" cy="4829694"/>
          </a:xfrm>
          <a:prstGeom prst="rect">
            <a:avLst/>
          </a:prstGeom>
          <a:ln>
            <a:solidFill>
              <a:schemeClr val="tx1"/>
            </a:solidFill>
          </a:ln>
        </p:spPr>
      </p:pic>
    </p:spTree>
    <p:extLst>
      <p:ext uri="{BB962C8B-B14F-4D97-AF65-F5344CB8AC3E}">
        <p14:creationId xmlns:p14="http://schemas.microsoft.com/office/powerpoint/2010/main" val="594887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EED32-9C43-29D0-1617-7974ABA7D698}"/>
              </a:ext>
            </a:extLst>
          </p:cNvPr>
          <p:cNvSpPr>
            <a:spLocks noGrp="1"/>
          </p:cNvSpPr>
          <p:nvPr>
            <p:ph type="title"/>
          </p:nvPr>
        </p:nvSpPr>
        <p:spPr>
          <a:xfrm>
            <a:off x="1097280" y="332510"/>
            <a:ext cx="10058400" cy="906087"/>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Dashboard</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78BC83D-99A6-6B42-D1DE-2156F55E1DA2}"/>
              </a:ext>
            </a:extLst>
          </p:cNvPr>
          <p:cNvPicPr>
            <a:picLocks noChangeAspect="1"/>
          </p:cNvPicPr>
          <p:nvPr/>
        </p:nvPicPr>
        <p:blipFill>
          <a:blip r:embed="rId2"/>
          <a:stretch>
            <a:fillRect/>
          </a:stretch>
        </p:blipFill>
        <p:spPr>
          <a:xfrm>
            <a:off x="1001683" y="1354393"/>
            <a:ext cx="10249593" cy="4713898"/>
          </a:xfrm>
          <a:prstGeom prst="rect">
            <a:avLst/>
          </a:prstGeom>
          <a:ln>
            <a:solidFill>
              <a:schemeClr val="tx1"/>
            </a:solidFill>
          </a:ln>
        </p:spPr>
      </p:pic>
    </p:spTree>
    <p:extLst>
      <p:ext uri="{BB962C8B-B14F-4D97-AF65-F5344CB8AC3E}">
        <p14:creationId xmlns:p14="http://schemas.microsoft.com/office/powerpoint/2010/main" val="2335636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B37F5-112F-DD5C-C37B-A03F13C7958C}"/>
              </a:ext>
            </a:extLst>
          </p:cNvPr>
          <p:cNvSpPr>
            <a:spLocks noGrp="1"/>
          </p:cNvSpPr>
          <p:nvPr>
            <p:ph type="title"/>
          </p:nvPr>
        </p:nvSpPr>
        <p:spPr>
          <a:xfrm>
            <a:off x="1066800" y="429491"/>
            <a:ext cx="10058400" cy="878378"/>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Conclusion</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17BFF0D-6257-4EAF-D7D6-F1CAA66364DD}"/>
              </a:ext>
            </a:extLst>
          </p:cNvPr>
          <p:cNvSpPr txBox="1"/>
          <p:nvPr/>
        </p:nvSpPr>
        <p:spPr>
          <a:xfrm>
            <a:off x="1530927" y="2119746"/>
            <a:ext cx="9130145" cy="3570208"/>
          </a:xfrm>
          <a:prstGeom prst="rect">
            <a:avLst/>
          </a:prstGeom>
          <a:noFill/>
        </p:spPr>
        <p:txBody>
          <a:bodyPr wrap="square" rtlCol="0">
            <a:spAutoFit/>
          </a:bodyPr>
          <a:lstStyle/>
          <a:p>
            <a:pPr marL="285750" indent="-285750" algn="l">
              <a:buFont typeface="Arial" panose="020B0604020202020204" pitchFamily="34" charset="0"/>
              <a:buChar char="•"/>
            </a:pPr>
            <a:r>
              <a:rPr lang="en-US" sz="1600" i="0" dirty="0">
                <a:effectLst/>
                <a:latin typeface="Arial" panose="020B0604020202020204" pitchFamily="34" charset="0"/>
                <a:cs typeface="Arial" panose="020B0604020202020204" pitchFamily="34" charset="0"/>
              </a:rPr>
              <a:t>Net revenue reached 78 million</a:t>
            </a:r>
            <a:r>
              <a:rPr lang="en-US" sz="1600" b="0" i="0" dirty="0">
                <a:effectLst/>
                <a:latin typeface="Arial" panose="020B0604020202020204" pitchFamily="34" charset="0"/>
                <a:cs typeface="Arial" panose="020B0604020202020204" pitchFamily="34" charset="0"/>
              </a:rPr>
              <a:t>, reflecting strong earnings generated from Amazon’s overall sales performance.</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i="0" dirty="0">
                <a:effectLst/>
                <a:latin typeface="Arial" panose="020B0604020202020204" pitchFamily="34" charset="0"/>
                <a:cs typeface="Arial" panose="020B0604020202020204" pitchFamily="34" charset="0"/>
              </a:rPr>
              <a:t>Total sales amounted to 107 million</a:t>
            </a:r>
            <a:r>
              <a:rPr lang="en-US" sz="1600" b="0" i="0" dirty="0">
                <a:effectLst/>
                <a:latin typeface="Arial" panose="020B0604020202020204" pitchFamily="34" charset="0"/>
                <a:cs typeface="Arial" panose="020B0604020202020204" pitchFamily="34" charset="0"/>
              </a:rPr>
              <a:t>, showing significant transaction volume and business scale.</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i="0" dirty="0">
                <a:effectLst/>
                <a:latin typeface="Arial" panose="020B0604020202020204" pitchFamily="34" charset="0"/>
                <a:cs typeface="Arial" panose="020B0604020202020204" pitchFamily="34" charset="0"/>
              </a:rPr>
              <a:t>Product returns totaled 31K units</a:t>
            </a:r>
            <a:r>
              <a:rPr lang="en-US" sz="1600" b="0" i="0" dirty="0">
                <a:effectLst/>
                <a:latin typeface="Arial" panose="020B0604020202020204" pitchFamily="34" charset="0"/>
                <a:cs typeface="Arial" panose="020B0604020202020204" pitchFamily="34" charset="0"/>
              </a:rPr>
              <a:t>, indicating the need to manage return rates for better profitability and service quality.</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i="0" dirty="0">
                <a:effectLst/>
                <a:latin typeface="Arial" panose="020B0604020202020204" pitchFamily="34" charset="0"/>
                <a:cs typeface="Arial" panose="020B0604020202020204" pitchFamily="34" charset="0"/>
              </a:rPr>
              <a:t>Average delivery time was 9 days</a:t>
            </a:r>
            <a:r>
              <a:rPr lang="en-US" sz="1600" b="0" i="0" dirty="0">
                <a:effectLst/>
                <a:latin typeface="Arial" panose="020B0604020202020204" pitchFamily="34" charset="0"/>
                <a:cs typeface="Arial" panose="020B0604020202020204" pitchFamily="34" charset="0"/>
              </a:rPr>
              <a:t>, making delivery efficiency an important factor in customer satisfaction.</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i="0" dirty="0">
                <a:effectLst/>
                <a:latin typeface="Arial" panose="020B0604020202020204" pitchFamily="34" charset="0"/>
                <a:cs typeface="Arial" panose="020B0604020202020204" pitchFamily="34" charset="0"/>
              </a:rPr>
              <a:t>Unique customers grew from 2015 to 2018, declined in 2018–2019, and recovered strongly in 2020 with over 8K customers</a:t>
            </a:r>
            <a:r>
              <a:rPr lang="en-US" sz="1600" b="0" i="0" dirty="0">
                <a:effectLst/>
                <a:latin typeface="Arial" panose="020B0604020202020204" pitchFamily="34" charset="0"/>
                <a:cs typeface="Arial" panose="020B0604020202020204" pitchFamily="34" charset="0"/>
              </a:rPr>
              <a:t>, reflecting changing customer acquisition trends over time.</a:t>
            </a:r>
          </a:p>
          <a:p>
            <a:endParaRPr lang="en-IN" dirty="0"/>
          </a:p>
        </p:txBody>
      </p:sp>
    </p:spTree>
    <p:extLst>
      <p:ext uri="{BB962C8B-B14F-4D97-AF65-F5344CB8AC3E}">
        <p14:creationId xmlns:p14="http://schemas.microsoft.com/office/powerpoint/2010/main" val="2523122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22466-73BF-1B13-5DC7-D17B0CE4FC67}"/>
              </a:ext>
            </a:extLst>
          </p:cNvPr>
          <p:cNvSpPr>
            <a:spLocks noGrp="1"/>
          </p:cNvSpPr>
          <p:nvPr>
            <p:ph type="title"/>
          </p:nvPr>
        </p:nvSpPr>
        <p:spPr>
          <a:xfrm>
            <a:off x="1097280" y="0"/>
            <a:ext cx="9875520" cy="1450757"/>
          </a:xfrm>
        </p:spPr>
        <p:txBody>
          <a:bodyPr>
            <a:normAutofit/>
          </a:bodyPr>
          <a:lstStyle/>
          <a:p>
            <a:pPr algn="ctr"/>
            <a:r>
              <a:rPr lang="en-US" sz="3600" b="1" dirty="0">
                <a:solidFill>
                  <a:schemeClr val="accent1">
                    <a:lumMod val="75000"/>
                  </a:schemeClr>
                </a:solidFill>
                <a:latin typeface="Arial" panose="020B0604020202020204" pitchFamily="34" charset="0"/>
                <a:cs typeface="Arial" panose="020B0604020202020204" pitchFamily="34" charset="0"/>
              </a:rPr>
              <a:t>Strategic Recommendations to Improve Customer Experience</a:t>
            </a:r>
            <a:endParaRPr lang="en-IN" sz="3600" b="1" dirty="0">
              <a:solidFill>
                <a:schemeClr val="accent1">
                  <a:lumMod val="75000"/>
                </a:schemeClr>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618C97A-E788-A559-16FB-5CB1C8C25AB0}"/>
              </a:ext>
            </a:extLst>
          </p:cNvPr>
          <p:cNvSpPr txBox="1"/>
          <p:nvPr/>
        </p:nvSpPr>
        <p:spPr>
          <a:xfrm>
            <a:off x="1427018" y="2161310"/>
            <a:ext cx="9337964" cy="3816429"/>
          </a:xfrm>
          <a:prstGeom prst="rect">
            <a:avLst/>
          </a:prstGeom>
          <a:noFill/>
        </p:spPr>
        <p:txBody>
          <a:bodyPr wrap="square" rtlCol="0">
            <a:spAutoFit/>
          </a:bodyPr>
          <a:lstStyle/>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Ship in a well-protected container</a:t>
            </a:r>
            <a:r>
              <a:rPr lang="en-US" sz="1600" b="0" i="0" dirty="0">
                <a:effectLst/>
                <a:latin typeface="Arial" panose="020B0604020202020204" pitchFamily="34" charset="0"/>
                <a:cs typeface="Arial" panose="020B0604020202020204" pitchFamily="34" charset="0"/>
              </a:rPr>
              <a:t> – Ensure products arrive undamaged using secure packaging to reduce returns and boost customer trust.</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Target the right age group</a:t>
            </a:r>
            <a:r>
              <a:rPr lang="en-US" sz="1600" b="0" i="0" dirty="0">
                <a:effectLst/>
                <a:latin typeface="Arial" panose="020B0604020202020204" pitchFamily="34" charset="0"/>
                <a:cs typeface="Arial" panose="020B0604020202020204" pitchFamily="34" charset="0"/>
              </a:rPr>
              <a:t> – Focus marketing efforts on the most profitable customer demographics to improve conversion and ROI.</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Season-based promotion</a:t>
            </a:r>
            <a:r>
              <a:rPr lang="en-US" sz="1600" b="0" i="0" dirty="0">
                <a:effectLst/>
                <a:latin typeface="Arial" panose="020B0604020202020204" pitchFamily="34" charset="0"/>
                <a:cs typeface="Arial" panose="020B0604020202020204" pitchFamily="34" charset="0"/>
              </a:rPr>
              <a:t> – Align sales campaigns with holidays and seasonal trends to maximize sales opportunities during high-demand periods.</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Promote express delivery by subscription</a:t>
            </a:r>
            <a:r>
              <a:rPr lang="en-US" sz="1600" b="0" i="0" dirty="0">
                <a:effectLst/>
                <a:latin typeface="Arial" panose="020B0604020202020204" pitchFamily="34" charset="0"/>
                <a:cs typeface="Arial" panose="020B0604020202020204" pitchFamily="34" charset="0"/>
              </a:rPr>
              <a:t> – Drive customer loyalty and recurring revenue by offering fast delivery as part of a subscription plan.</a:t>
            </a:r>
          </a:p>
          <a:p>
            <a:pPr algn="l"/>
            <a:endParaRPr lang="en-US" sz="16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1" i="0" dirty="0">
                <a:effectLst/>
                <a:latin typeface="Arial" panose="020B0604020202020204" pitchFamily="34" charset="0"/>
                <a:cs typeface="Arial" panose="020B0604020202020204" pitchFamily="34" charset="0"/>
              </a:rPr>
              <a:t>Target the right age group</a:t>
            </a:r>
            <a:r>
              <a:rPr lang="en-US" sz="1600" b="0" i="0" dirty="0">
                <a:effectLst/>
                <a:latin typeface="Arial" panose="020B0604020202020204" pitchFamily="34" charset="0"/>
                <a:cs typeface="Arial" panose="020B0604020202020204" pitchFamily="34" charset="0"/>
              </a:rPr>
              <a:t> – Use data-driven insights to personalize marketing toward the most responsive customer segments</a:t>
            </a:r>
          </a:p>
          <a:p>
            <a:endParaRPr lang="en-IN" dirty="0"/>
          </a:p>
        </p:txBody>
      </p:sp>
    </p:spTree>
    <p:extLst>
      <p:ext uri="{BB962C8B-B14F-4D97-AF65-F5344CB8AC3E}">
        <p14:creationId xmlns:p14="http://schemas.microsoft.com/office/powerpoint/2010/main" val="1035170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93E7B4-6464-7409-BB8C-08579EBD037A}"/>
              </a:ext>
            </a:extLst>
          </p:cNvPr>
          <p:cNvPicPr>
            <a:picLocks noChangeAspect="1"/>
          </p:cNvPicPr>
          <p:nvPr/>
        </p:nvPicPr>
        <p:blipFill>
          <a:blip r:embed="rId2"/>
          <a:stretch>
            <a:fillRect/>
          </a:stretch>
        </p:blipFill>
        <p:spPr>
          <a:xfrm>
            <a:off x="962891" y="831272"/>
            <a:ext cx="10266218" cy="5195455"/>
          </a:xfrm>
          <a:prstGeom prst="rect">
            <a:avLst/>
          </a:prstGeom>
        </p:spPr>
      </p:pic>
    </p:spTree>
    <p:extLst>
      <p:ext uri="{BB962C8B-B14F-4D97-AF65-F5344CB8AC3E}">
        <p14:creationId xmlns:p14="http://schemas.microsoft.com/office/powerpoint/2010/main" val="427881878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TM02900769[[fn=Retrospect]]</Template>
  <TotalTime>937</TotalTime>
  <Words>1208</Words>
  <Application>Microsoft Office PowerPoint</Application>
  <PresentationFormat>Widescreen</PresentationFormat>
  <Paragraphs>110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Calibri Light</vt:lpstr>
      <vt:lpstr>Retrospect</vt:lpstr>
      <vt:lpstr>PowerPoint Presentation</vt:lpstr>
      <vt:lpstr>Problem statement of the Project</vt:lpstr>
      <vt:lpstr>Dataset Overview</vt:lpstr>
      <vt:lpstr>Dataset Overview</vt:lpstr>
      <vt:lpstr>About Amazon E-Commerce Service</vt:lpstr>
      <vt:lpstr>PowerPoint Presentation</vt:lpstr>
      <vt:lpstr>Analytical Approach of the  Problem Statement</vt:lpstr>
      <vt:lpstr>Key Performance Indicators</vt:lpstr>
      <vt:lpstr>Annual Unique Customer Count</vt:lpstr>
      <vt:lpstr>Sales Per year</vt:lpstr>
      <vt:lpstr>Returned Order Count by Reason</vt:lpstr>
      <vt:lpstr>Product Performance Analysis</vt:lpstr>
      <vt:lpstr>Average Time to Deliver Products by Delivery Type</vt:lpstr>
      <vt:lpstr>Dashboard</vt:lpstr>
      <vt:lpstr>Dashboard</vt:lpstr>
      <vt:lpstr>Dashboard</vt:lpstr>
      <vt:lpstr>Conclusion</vt:lpstr>
      <vt:lpstr>Strategic Recommendations to Improve Customer Experience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kalyan bandaru</dc:creator>
  <cp:lastModifiedBy>kalyan bandaru</cp:lastModifiedBy>
  <cp:revision>8</cp:revision>
  <dcterms:created xsi:type="dcterms:W3CDTF">2026-05-27T16:21:39Z</dcterms:created>
  <dcterms:modified xsi:type="dcterms:W3CDTF">2026-06-22T16:38:16Z</dcterms:modified>
</cp:coreProperties>
</file>